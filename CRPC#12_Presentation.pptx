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0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57" r:id="rId4"/>
    <p:sldId id="273" r:id="rId5"/>
    <p:sldId id="274" r:id="rId6"/>
    <p:sldId id="275" r:id="rId7"/>
    <p:sldId id="276" r:id="rId8"/>
    <p:sldId id="258" r:id="rId9"/>
    <p:sldId id="259" r:id="rId10"/>
    <p:sldId id="261" r:id="rId11"/>
    <p:sldId id="262" r:id="rId12"/>
    <p:sldId id="263" r:id="rId13"/>
    <p:sldId id="277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7" r:id="rId31"/>
    <p:sldId id="27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8900"/>
    <a:srgbClr val="E6F5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E23A-3333-B45A-DB86-F6EFA3FDD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AC078D-1EB3-C8F9-9A88-6B547D78C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97" indent="0" algn="ctr">
              <a:buNone/>
              <a:defRPr sz="2000"/>
            </a:lvl2pPr>
            <a:lvl3pPr marL="914394" indent="0" algn="ctr">
              <a:buNone/>
              <a:defRPr sz="1798"/>
            </a:lvl3pPr>
            <a:lvl4pPr marL="1371591" indent="0" algn="ctr">
              <a:buNone/>
              <a:defRPr sz="1600"/>
            </a:lvl4pPr>
            <a:lvl5pPr marL="1828789" indent="0" algn="ctr">
              <a:buNone/>
              <a:defRPr sz="1600"/>
            </a:lvl5pPr>
            <a:lvl6pPr marL="2285986" indent="0" algn="ctr">
              <a:buNone/>
              <a:defRPr sz="1600"/>
            </a:lvl6pPr>
            <a:lvl7pPr marL="2743183" indent="0" algn="ctr">
              <a:buNone/>
              <a:defRPr sz="1600"/>
            </a:lvl7pPr>
            <a:lvl8pPr marL="3200380" indent="0" algn="ctr">
              <a:buNone/>
              <a:defRPr sz="1600"/>
            </a:lvl8pPr>
            <a:lvl9pPr marL="3657577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D4442-C89C-BCC1-9810-63123830E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98B86-1BDA-F7FE-E8F2-82F7DF358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A35D7-A028-A4BC-EAC9-8CD72EF57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286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8FBCA-31C1-437E-215D-BE8842476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2672A-8EF1-4477-D1F6-41231AFD9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A8443-FCA0-0B55-E478-340A2CCF2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AE5E5-A06D-FA66-EE31-824FAEAD9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85DCE-EC5E-6B0F-6242-8E1001E0E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582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BE3E0-2D28-5428-A48B-848FB0700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3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CF7A-53F6-0D4F-A552-BA1583E95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9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94" indent="0">
              <a:buNone/>
              <a:defRPr sz="1798">
                <a:solidFill>
                  <a:schemeClr val="tx1">
                    <a:tint val="75000"/>
                  </a:schemeClr>
                </a:solidFill>
              </a:defRPr>
            </a:lvl3pPr>
            <a:lvl4pPr marL="13715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CFA52-614C-DA52-83D7-F710836A9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D3CA8-B809-454D-9B5A-55E6986FD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8DEA2-3781-7B03-C717-F6F0EE82D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954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42775-FF2A-A659-CAC7-F8B4B79ED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57FDB-29EA-9857-437A-F6DA4C1D4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4351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9F43D-1FDB-4B69-9890-759362233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4351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AF80-1CB2-F750-E400-6061647E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A3303-EA36-9584-489F-B73889290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D40BD-24FC-B73E-0ED5-ED0307ADC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212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5C701-E239-7611-5681-66B60FAF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1A644-7E95-A513-3776-059BAF333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7" indent="0">
              <a:buNone/>
              <a:defRPr sz="2000" b="1"/>
            </a:lvl2pPr>
            <a:lvl3pPr marL="914394" indent="0">
              <a:buNone/>
              <a:defRPr sz="1798" b="1"/>
            </a:lvl3pPr>
            <a:lvl4pPr marL="1371591" indent="0">
              <a:buNone/>
              <a:defRPr sz="1600" b="1"/>
            </a:lvl4pPr>
            <a:lvl5pPr marL="1828789" indent="0">
              <a:buNone/>
              <a:defRPr sz="1600" b="1"/>
            </a:lvl5pPr>
            <a:lvl6pPr marL="2285986" indent="0">
              <a:buNone/>
              <a:defRPr sz="1600" b="1"/>
            </a:lvl6pPr>
            <a:lvl7pPr marL="2743183" indent="0">
              <a:buNone/>
              <a:defRPr sz="1600" b="1"/>
            </a:lvl7pPr>
            <a:lvl8pPr marL="3200380" indent="0">
              <a:buNone/>
              <a:defRPr sz="1600" b="1"/>
            </a:lvl8pPr>
            <a:lvl9pPr marL="3657577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DD588-238F-72B8-DAF5-1000B403B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4"/>
            <a:ext cx="5157787" cy="36845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4E4263-E0B1-6D84-8B45-E453EAA7CB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7" indent="0">
              <a:buNone/>
              <a:defRPr sz="2000" b="1"/>
            </a:lvl2pPr>
            <a:lvl3pPr marL="914394" indent="0">
              <a:buNone/>
              <a:defRPr sz="1798" b="1"/>
            </a:lvl3pPr>
            <a:lvl4pPr marL="1371591" indent="0">
              <a:buNone/>
              <a:defRPr sz="1600" b="1"/>
            </a:lvl4pPr>
            <a:lvl5pPr marL="1828789" indent="0">
              <a:buNone/>
              <a:defRPr sz="1600" b="1"/>
            </a:lvl5pPr>
            <a:lvl6pPr marL="2285986" indent="0">
              <a:buNone/>
              <a:defRPr sz="1600" b="1"/>
            </a:lvl6pPr>
            <a:lvl7pPr marL="2743183" indent="0">
              <a:buNone/>
              <a:defRPr sz="1600" b="1"/>
            </a:lvl7pPr>
            <a:lvl8pPr marL="3200380" indent="0">
              <a:buNone/>
              <a:defRPr sz="1600" b="1"/>
            </a:lvl8pPr>
            <a:lvl9pPr marL="3657577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E1AB46-EBF6-125B-B744-7F5C08642A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5183188" cy="36845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EFE980-5977-DD28-F9EF-7F225FCBD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2DF5C6-762A-4C6E-829E-AE8AFB875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130664-5531-DB36-243F-09C26B200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608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7110C-3B2F-602E-7868-B6282A987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A2290C-9DF1-F12B-523B-73C4559BA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E3815-8B31-158B-FA76-BFD671146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DCD11-D54D-3394-527B-28DE4320B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38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A24ABD-5816-8525-7723-0865D639D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F40D3C-AD5E-2047-0C3C-EB935684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9A46F-E995-C79C-F882-C8E18C44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85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A33B-F81C-4B80-5D5A-8DD094A0B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2"/>
            <a:ext cx="3932237" cy="160020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292A-B3BA-FEA0-CC62-97817B99E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A47C1-DC3C-8BE0-1C1C-0C90B329E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398"/>
            <a:ext cx="3932237" cy="3811589"/>
          </a:xfrm>
        </p:spPr>
        <p:txBody>
          <a:bodyPr/>
          <a:lstStyle>
            <a:lvl1pPr marL="0" indent="0">
              <a:buNone/>
              <a:defRPr sz="1600"/>
            </a:lvl1pPr>
            <a:lvl2pPr marL="457197" indent="0">
              <a:buNone/>
              <a:defRPr sz="1402"/>
            </a:lvl2pPr>
            <a:lvl3pPr marL="914394" indent="0">
              <a:buNone/>
              <a:defRPr sz="1200"/>
            </a:lvl3pPr>
            <a:lvl4pPr marL="1371591" indent="0">
              <a:buNone/>
              <a:defRPr sz="1002"/>
            </a:lvl4pPr>
            <a:lvl5pPr marL="1828789" indent="0">
              <a:buNone/>
              <a:defRPr sz="1002"/>
            </a:lvl5pPr>
            <a:lvl6pPr marL="2285986" indent="0">
              <a:buNone/>
              <a:defRPr sz="1002"/>
            </a:lvl6pPr>
            <a:lvl7pPr marL="2743183" indent="0">
              <a:buNone/>
              <a:defRPr sz="1002"/>
            </a:lvl7pPr>
            <a:lvl8pPr marL="3200380" indent="0">
              <a:buNone/>
              <a:defRPr sz="1002"/>
            </a:lvl8pPr>
            <a:lvl9pPr marL="3657577" indent="0">
              <a:buNone/>
              <a:defRPr sz="10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F7C1F-1B7F-AE8B-59A7-33CA7B5F4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3D3F5-1C9B-14ED-B807-31A70CB55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91203-A14E-83CA-0C05-4EC77D8FF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898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C211D-9CD0-85EC-2191-C54ED747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2"/>
            <a:ext cx="3932237" cy="160020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B14FD-02FE-D1C3-D7C4-7F34EE25C9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7"/>
          </a:xfrm>
        </p:spPr>
        <p:txBody>
          <a:bodyPr/>
          <a:lstStyle>
            <a:lvl1pPr marL="0" indent="0">
              <a:buNone/>
              <a:defRPr sz="3200"/>
            </a:lvl1pPr>
            <a:lvl2pPr marL="457197" indent="0">
              <a:buNone/>
              <a:defRPr sz="2800"/>
            </a:lvl2pPr>
            <a:lvl3pPr marL="914394" indent="0">
              <a:buNone/>
              <a:defRPr sz="2400"/>
            </a:lvl3pPr>
            <a:lvl4pPr marL="1371591" indent="0">
              <a:buNone/>
              <a:defRPr sz="2000"/>
            </a:lvl4pPr>
            <a:lvl5pPr marL="1828789" indent="0">
              <a:buNone/>
              <a:defRPr sz="2000"/>
            </a:lvl5pPr>
            <a:lvl6pPr marL="2285986" indent="0">
              <a:buNone/>
              <a:defRPr sz="2000"/>
            </a:lvl6pPr>
            <a:lvl7pPr marL="2743183" indent="0">
              <a:buNone/>
              <a:defRPr sz="2000"/>
            </a:lvl7pPr>
            <a:lvl8pPr marL="3200380" indent="0">
              <a:buNone/>
              <a:defRPr sz="2000"/>
            </a:lvl8pPr>
            <a:lvl9pPr marL="3657577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A1A97-6869-70BD-AB93-56065446B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398"/>
            <a:ext cx="3932237" cy="3811589"/>
          </a:xfrm>
        </p:spPr>
        <p:txBody>
          <a:bodyPr/>
          <a:lstStyle>
            <a:lvl1pPr marL="0" indent="0">
              <a:buNone/>
              <a:defRPr sz="1600"/>
            </a:lvl1pPr>
            <a:lvl2pPr marL="457197" indent="0">
              <a:buNone/>
              <a:defRPr sz="1402"/>
            </a:lvl2pPr>
            <a:lvl3pPr marL="914394" indent="0">
              <a:buNone/>
              <a:defRPr sz="1200"/>
            </a:lvl3pPr>
            <a:lvl4pPr marL="1371591" indent="0">
              <a:buNone/>
              <a:defRPr sz="1002"/>
            </a:lvl4pPr>
            <a:lvl5pPr marL="1828789" indent="0">
              <a:buNone/>
              <a:defRPr sz="1002"/>
            </a:lvl5pPr>
            <a:lvl6pPr marL="2285986" indent="0">
              <a:buNone/>
              <a:defRPr sz="1002"/>
            </a:lvl6pPr>
            <a:lvl7pPr marL="2743183" indent="0">
              <a:buNone/>
              <a:defRPr sz="1002"/>
            </a:lvl7pPr>
            <a:lvl8pPr marL="3200380" indent="0">
              <a:buNone/>
              <a:defRPr sz="1002"/>
            </a:lvl8pPr>
            <a:lvl9pPr marL="3657577" indent="0">
              <a:buNone/>
              <a:defRPr sz="10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48B4A-2D3F-A8BD-E4B5-D7CBCD373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7070B-8293-630D-764B-1F9CC42D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F8F57-95F3-2CA2-5DC4-5846CEDDF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800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8349A-A039-AFA5-9A5E-E6FAF3D90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37529-EA95-1C57-61AB-01A477191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C2CCC-9371-1BF3-73C2-220CD101E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EB851-ACBB-E34B-96CC-A7EEA400C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B9790-FCB4-C782-BDE0-6606F2BAC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262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8D09EA-30C3-3419-42E9-F12A7EF774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30"/>
            <a:ext cx="2628900" cy="581183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BAB1F-F36F-9D9B-83F6-70799E39A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30"/>
            <a:ext cx="7734300" cy="581183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A171F-1DE3-0C0C-D1BC-81B9E3A0E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54F91-4B29-6604-E15D-78EBBC521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4DDF2-078A-9D66-B8FC-3EEA4400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310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19027C-1C8A-9031-1301-566666F7D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1CFC2-CCDE-F79E-D0BF-078047801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0F4DE-0FC0-941F-94A3-1049E3A7DC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B005E-4F0B-4DB3-ADD3-718536D5346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63A45-5E06-02AA-9F56-30ABE5A2F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A21E3-6086-6F6F-4144-A9A71573C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257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9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394" rtl="0" eaLnBrk="1" latinLnBrk="0" hangingPunct="1">
        <a:lnSpc>
          <a:spcPct val="90000"/>
        </a:lnSpc>
        <a:spcBef>
          <a:spcPts val="100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8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5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2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9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6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8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4394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1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6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3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0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7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0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5.xml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8051B6-9216-E7FA-AFBE-D30E676B14F2}"/>
              </a:ext>
            </a:extLst>
          </p:cNvPr>
          <p:cNvSpPr txBox="1"/>
          <p:nvPr/>
        </p:nvSpPr>
        <p:spPr>
          <a:xfrm>
            <a:off x="1920240" y="665934"/>
            <a:ext cx="9925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rgbClr val="0389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Electric Vehicle Market Analysis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5A959F-107C-CECD-3493-8DDF0E539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93" y="290588"/>
            <a:ext cx="2215300" cy="17221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2683FE-9F4A-BFF1-5B00-D7E2681A53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832" y="2173099"/>
            <a:ext cx="6581775" cy="34718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2575A7-4511-F5BB-0B80-76617962DCE7}"/>
              </a:ext>
            </a:extLst>
          </p:cNvPr>
          <p:cNvSpPr txBox="1"/>
          <p:nvPr/>
        </p:nvSpPr>
        <p:spPr>
          <a:xfrm>
            <a:off x="1188720" y="2941320"/>
            <a:ext cx="37795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>
                <a:solidFill>
                  <a:srgbClr val="038900"/>
                </a:solidFill>
              </a:rPr>
              <a:t>Provide Insights to an Automative Company on Electric Vehicles Launch in India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433A24-06B3-32F5-D05F-9F2F2EEFAD3D}"/>
              </a:ext>
            </a:extLst>
          </p:cNvPr>
          <p:cNvSpPr txBox="1"/>
          <p:nvPr/>
        </p:nvSpPr>
        <p:spPr>
          <a:xfrm>
            <a:off x="8066088" y="6100626"/>
            <a:ext cx="3779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038900"/>
                </a:solidFill>
              </a:rPr>
              <a:t>Presented By Sairam Badganchi</a:t>
            </a:r>
          </a:p>
        </p:txBody>
      </p:sp>
    </p:spTree>
    <p:extLst>
      <p:ext uri="{BB962C8B-B14F-4D97-AF65-F5344CB8AC3E}">
        <p14:creationId xmlns:p14="http://schemas.microsoft.com/office/powerpoint/2010/main" val="2725011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FC9C1B-7910-E44C-E50C-0D0B740DF484}"/>
              </a:ext>
            </a:extLst>
          </p:cNvPr>
          <p:cNvSpPr txBox="1"/>
          <p:nvPr/>
        </p:nvSpPr>
        <p:spPr>
          <a:xfrm>
            <a:off x="829557" y="579748"/>
            <a:ext cx="20644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>
                <a:solidFill>
                  <a:srgbClr val="038900"/>
                </a:solidFill>
              </a:rPr>
              <a:t>Agenda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FF7D8-C0F2-6710-A378-72C2D91E8EF3}"/>
              </a:ext>
            </a:extLst>
          </p:cNvPr>
          <p:cNvSpPr txBox="1"/>
          <p:nvPr/>
        </p:nvSpPr>
        <p:spPr>
          <a:xfrm>
            <a:off x="829557" y="1371599"/>
            <a:ext cx="6174558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/>
              <a:t>Problem Statement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/>
              <a:t>Project Focus - What This Analysis Solves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/>
              <a:t>Dataset Overview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/>
              <a:t>Key Growth Metrics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/>
              <a:t>Primary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/>
              <a:t>Secondary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/>
              <a:t>Recommendations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E03BD5-D968-967B-FB17-088FCB600E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500" y="1371599"/>
            <a:ext cx="3242249" cy="391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519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A7F417-29F2-E2CA-66B6-FB5E408A352B}"/>
              </a:ext>
            </a:extLst>
          </p:cNvPr>
          <p:cNvSpPr txBox="1"/>
          <p:nvPr/>
        </p:nvSpPr>
        <p:spPr>
          <a:xfrm>
            <a:off x="1024378" y="1484631"/>
            <a:ext cx="1014324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Calibri(Body)"/>
              </a:rPr>
              <a:t>AtliQ Motors is a US-based automotive giant specializing in Electric Vehicles (EV).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>
              <a:latin typeface="Calibri(Body)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Calibri(Body)"/>
              </a:rPr>
              <a:t>Over the last 5 years, they have achieved a significant 25% market share in the EV and Hybrid segment in North America.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>
              <a:latin typeface="Calibri(Body)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Calibri(Body)"/>
              </a:rPr>
              <a:t>The company has a very limited presence in the Indian market, currently holding less than 2% market share.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>
              <a:latin typeface="Calibri(Body)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Calibri(Body)"/>
              </a:rPr>
              <a:t>The company intends to launch its bestselling North American models in India to grow its footprint.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>
              <a:latin typeface="Calibri(Body)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Calibri(Body)"/>
              </a:rPr>
              <a:t>Chief of AtliQ Motors India requires a detailed market study of the existing EV and Hybrid landscape in India before proceeding with the launch.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b="1">
              <a:latin typeface="Calibri(Body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D8BE2D-7114-D9BE-21C7-0FB1323C6989}"/>
              </a:ext>
            </a:extLst>
          </p:cNvPr>
          <p:cNvSpPr txBox="1"/>
          <p:nvPr/>
        </p:nvSpPr>
        <p:spPr>
          <a:xfrm>
            <a:off x="284479" y="469889"/>
            <a:ext cx="1162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563242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556D86-E1C7-7FBA-0703-04DC48401047}"/>
              </a:ext>
            </a:extLst>
          </p:cNvPr>
          <p:cNvSpPr txBox="1"/>
          <p:nvPr/>
        </p:nvSpPr>
        <p:spPr>
          <a:xfrm>
            <a:off x="355600" y="1307467"/>
            <a:ext cx="1124712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/>
              <a:t>Market Entry &amp; Prioritization </a:t>
            </a:r>
            <a:r>
              <a:rPr lang="en-US" sz="2000"/>
              <a:t>: Identifying high-potential Launch Cities by regional EV penetration, charging infrastructure density, and consumer income levels to ensure a successful initial rollout.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/>
              <a:t>Competitive Positioning </a:t>
            </a:r>
            <a:r>
              <a:rPr lang="en-US" sz="2000"/>
              <a:t>: Evaluating top-selling models and pricing structures to define AtliQ’s unique value proposition and gain market share from established players.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/>
              <a:t>Customer Insights &amp; Demand Forecasting </a:t>
            </a:r>
            <a:r>
              <a:rPr lang="en-US" sz="2000"/>
              <a:t>: Modeling buying behavior and adoption factors to accurately estimate sales potential for AtliQ’s bestselling models within the Indian context.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/>
              <a:t>Infrastructure &amp; Ecosystem Readiness </a:t>
            </a:r>
            <a:r>
              <a:rPr lang="en-US" sz="2000"/>
              <a:t>: Mapping current charging networks and identifying gaps to determine where strategic partnerships or infrastructure investments are needed to reduce range anxiety.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/>
              <a:t>Data-Driven GTM Strategy </a:t>
            </a:r>
            <a:r>
              <a:rPr lang="en-US" sz="2000"/>
              <a:t>: Developing a comprehensive go-to-market plan that includes optimal pricing, distribution channels, and pilot launch approaches to mitigate risks and maximize long-term ROI.</a:t>
            </a:r>
            <a:endParaRPr lang="en-IN"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339298-1940-E9FD-562B-13BB0467C269}"/>
              </a:ext>
            </a:extLst>
          </p:cNvPr>
          <p:cNvSpPr txBox="1"/>
          <p:nvPr/>
        </p:nvSpPr>
        <p:spPr>
          <a:xfrm>
            <a:off x="467360" y="377081"/>
            <a:ext cx="11257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>
                <a:solidFill>
                  <a:srgbClr val="00B050"/>
                </a:solidFill>
              </a:rPr>
              <a:t> Project Focus - What This Analysis Solves</a:t>
            </a:r>
          </a:p>
        </p:txBody>
      </p:sp>
    </p:spTree>
    <p:extLst>
      <p:ext uri="{BB962C8B-B14F-4D97-AF65-F5344CB8AC3E}">
        <p14:creationId xmlns:p14="http://schemas.microsoft.com/office/powerpoint/2010/main" val="37315291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EF8AF-CFF5-BA83-90B3-1C4771349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648"/>
            <a:ext cx="10515600" cy="843912"/>
          </a:xfrm>
        </p:spPr>
        <p:txBody>
          <a:bodyPr>
            <a:normAutofit/>
          </a:bodyPr>
          <a:lstStyle/>
          <a:p>
            <a:pPr algn="ctr"/>
            <a:r>
              <a:rPr lang="en-IN" sz="3600" b="1" u="sng">
                <a:solidFill>
                  <a:srgbClr val="00B050"/>
                </a:solidFill>
                <a:latin typeface="Calibri(Body)"/>
              </a:rPr>
              <a:t>Dataset Overview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EF9471-36C8-F0A1-154D-A347C10293DA}"/>
              </a:ext>
            </a:extLst>
          </p:cNvPr>
          <p:cNvSpPr txBox="1"/>
          <p:nvPr/>
        </p:nvSpPr>
        <p:spPr>
          <a:xfrm>
            <a:off x="275300" y="2681974"/>
            <a:ext cx="470397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>
                <a:solidFill>
                  <a:srgbClr val="00B050"/>
                </a:solidFill>
              </a:rPr>
              <a:t>Dataset Tables :</a:t>
            </a:r>
          </a:p>
          <a:p>
            <a:pPr marL="342900" indent="-342900">
              <a:buAutoNum type="arabicPeriod"/>
            </a:pPr>
            <a:r>
              <a:rPr lang="en-IN" sz="2000"/>
              <a:t>Dim Date</a:t>
            </a:r>
          </a:p>
          <a:p>
            <a:pPr marL="342900" indent="-342900">
              <a:buAutoNum type="arabicPeriod"/>
            </a:pPr>
            <a:r>
              <a:rPr lang="en-IN" sz="2000"/>
              <a:t>EV Sales by State</a:t>
            </a:r>
          </a:p>
          <a:p>
            <a:pPr marL="342900" indent="-342900">
              <a:buAutoNum type="arabicPeriod"/>
            </a:pPr>
            <a:r>
              <a:rPr lang="en-IN" sz="2000"/>
              <a:t>EV Sales by Makers</a:t>
            </a:r>
          </a:p>
          <a:p>
            <a:endParaRPr lang="en-IN" sz="2000"/>
          </a:p>
          <a:p>
            <a:r>
              <a:rPr lang="en-IN" sz="2000" b="1" u="sng">
                <a:solidFill>
                  <a:srgbClr val="00B050"/>
                </a:solidFill>
              </a:rPr>
              <a:t>Key Point :</a:t>
            </a:r>
          </a:p>
          <a:p>
            <a:r>
              <a:rPr lang="en-US" sz="2000"/>
              <a:t>Fiscal Year starting on April 1st and ending on March 31st of the following year in India</a:t>
            </a:r>
            <a:endParaRPr lang="en-IN" sz="200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9A1565-F921-8060-721F-D338A9498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431" y="1844132"/>
            <a:ext cx="6989927" cy="454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349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FD84E-87A9-6567-1945-E64B87418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5834"/>
            <a:ext cx="10515600" cy="766089"/>
          </a:xfrm>
        </p:spPr>
        <p:txBody>
          <a:bodyPr>
            <a:normAutofit/>
          </a:bodyPr>
          <a:lstStyle/>
          <a:p>
            <a:pPr algn="ctr"/>
            <a:r>
              <a:rPr lang="en-IN" sz="3600" b="1" u="sng">
                <a:solidFill>
                  <a:srgbClr val="00B050"/>
                </a:solidFill>
                <a:latin typeface="Calibri(Body)"/>
              </a:rPr>
              <a:t>Key Growth Metrics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8297F1-8E6E-2DCC-BD00-9EE3D7904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13" y="4295395"/>
            <a:ext cx="4847611" cy="12345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72DBDC-B248-EDFF-828E-90D185CEF7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661" y="4295395"/>
            <a:ext cx="5434226" cy="10034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A7C75F9-B16E-5B5C-5AF2-884414F97677}"/>
              </a:ext>
            </a:extLst>
          </p:cNvPr>
          <p:cNvSpPr txBox="1"/>
          <p:nvPr/>
        </p:nvSpPr>
        <p:spPr>
          <a:xfrm>
            <a:off x="553113" y="1328087"/>
            <a:ext cx="5278177" cy="283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0B050"/>
                </a:solidFill>
              </a:rPr>
              <a:t>CAGR(Compound Annual Growth Rate) 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/>
              <a:t>CAGR measures the mean annual growth rate over a specified period longer than one year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/>
              <a:t>A high CAGR indicates a rapidly expanding market with strong demand.</a:t>
            </a:r>
            <a:endParaRPr lang="en-IN" sz="2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ACC371-CD8D-C176-9C5E-AFF7A0D381B3}"/>
              </a:ext>
            </a:extLst>
          </p:cNvPr>
          <p:cNvSpPr txBox="1"/>
          <p:nvPr/>
        </p:nvSpPr>
        <p:spPr>
          <a:xfrm>
            <a:off x="6143391" y="1328087"/>
            <a:ext cx="5325565" cy="283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0B050"/>
                </a:solidFill>
              </a:rPr>
              <a:t>EV Penetration Rate 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/>
              <a:t>Represents percentage of EVs sold compared to total number of vehicles sold.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/>
              <a:t>High Penetration shows strong adoption of Evs by people</a:t>
            </a:r>
            <a:endParaRPr lang="en-IN" sz="200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416AC7-397F-D228-6B41-C67B03AE75B5}"/>
              </a:ext>
            </a:extLst>
          </p:cNvPr>
          <p:cNvCxnSpPr>
            <a:cxnSpLocks/>
          </p:cNvCxnSpPr>
          <p:nvPr/>
        </p:nvCxnSpPr>
        <p:spPr>
          <a:xfrm>
            <a:off x="5987340" y="1328087"/>
            <a:ext cx="0" cy="4205447"/>
          </a:xfrm>
          <a:prstGeom prst="line">
            <a:avLst/>
          </a:prstGeom>
          <a:ln>
            <a:solidFill>
              <a:srgbClr val="03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192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D8A9F-46B4-AF6A-7938-C3BDE3977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240" y="2766219"/>
            <a:ext cx="10515600" cy="1325562"/>
          </a:xfrm>
        </p:spPr>
        <p:txBody>
          <a:bodyPr/>
          <a:lstStyle/>
          <a:p>
            <a:pPr algn="ctr"/>
            <a:r>
              <a:rPr lang="en-IN" b="1" u="sng">
                <a:solidFill>
                  <a:srgbClr val="00B050"/>
                </a:solidFill>
                <a:latin typeface="Calibri(Body)"/>
              </a:rPr>
              <a:t>PRIMARY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AF2875-C4C8-E41A-F63C-8F0185AF3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879" y="1318418"/>
            <a:ext cx="2026921" cy="202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FFA7EF-61AE-705C-E2CB-721E897E8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440" y="3854363"/>
            <a:ext cx="1807137" cy="180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99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EA04E8D-A6C5-7DF1-3A20-44EE6DF77AA1}"/>
              </a:ext>
            </a:extLst>
          </p:cNvPr>
          <p:cNvSpPr txBox="1"/>
          <p:nvPr/>
        </p:nvSpPr>
        <p:spPr>
          <a:xfrm>
            <a:off x="1422398" y="549986"/>
            <a:ext cx="4475681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885F5A-6F54-3955-A51E-53DF1FF57A94}"/>
              </a:ext>
            </a:extLst>
          </p:cNvPr>
          <p:cNvSpPr txBox="1"/>
          <p:nvPr/>
        </p:nvSpPr>
        <p:spPr>
          <a:xfrm>
            <a:off x="6293922" y="549985"/>
            <a:ext cx="4579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45A77E3-7846-DA58-DC74-EA78114AC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399" y="871950"/>
            <a:ext cx="4579045" cy="18323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8505070-4FC3-789C-EA7E-9C1B07ACE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399" y="2814320"/>
            <a:ext cx="4579046" cy="19065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4F3EF8C-2952-C8B2-7DFF-89DBDA4C0F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3922" y="871950"/>
            <a:ext cx="4579046" cy="183231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67D97F8-FA99-8014-DE81-BC9CC11E60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3922" y="2814320"/>
            <a:ext cx="4579046" cy="188705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7FBCFBB-6450-0FF4-C832-3722921F4324}"/>
              </a:ext>
            </a:extLst>
          </p:cNvPr>
          <p:cNvSpPr txBox="1"/>
          <p:nvPr/>
        </p:nvSpPr>
        <p:spPr>
          <a:xfrm>
            <a:off x="707010" y="70598"/>
            <a:ext cx="10948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38900"/>
                </a:solidFill>
              </a:rPr>
              <a:t>List </a:t>
            </a:r>
            <a:r>
              <a:rPr lang="en-US" b="1" dirty="0">
                <a:solidFill>
                  <a:srgbClr val="038900"/>
                </a:solidFill>
              </a:rPr>
              <a:t>the top 5 and bottom 5 makers for the fiscal years 2023 and 2024 in terms of the number </a:t>
            </a:r>
            <a:r>
              <a:rPr lang="en-US" b="1">
                <a:solidFill>
                  <a:srgbClr val="038900"/>
                </a:solidFill>
              </a:rPr>
              <a:t>of  2-wheelers </a:t>
            </a:r>
            <a:r>
              <a:rPr lang="en-US" b="1" dirty="0">
                <a:solidFill>
                  <a:srgbClr val="038900"/>
                </a:solidFill>
              </a:rPr>
              <a:t>sold.</a:t>
            </a:r>
            <a:endParaRPr lang="en-IN" b="1" dirty="0">
              <a:solidFill>
                <a:srgbClr val="038900"/>
              </a:solidFill>
            </a:endParaRP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52BD676B-31A7-5033-05D9-4AF91072019A}"/>
              </a:ext>
            </a:extLst>
          </p:cNvPr>
          <p:cNvSpPr/>
          <p:nvPr/>
        </p:nvSpPr>
        <p:spPr>
          <a:xfrm>
            <a:off x="0" y="86240"/>
            <a:ext cx="707010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462308-C294-F59C-61A9-6845D05C0EFC}"/>
              </a:ext>
            </a:extLst>
          </p:cNvPr>
          <p:cNvSpPr txBox="1"/>
          <p:nvPr/>
        </p:nvSpPr>
        <p:spPr>
          <a:xfrm>
            <a:off x="707010" y="1634218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/>
              <a:t>Top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7B0A71-A6F0-999F-3BEA-691FCC717C02}"/>
              </a:ext>
            </a:extLst>
          </p:cNvPr>
          <p:cNvSpPr txBox="1"/>
          <p:nvPr/>
        </p:nvSpPr>
        <p:spPr>
          <a:xfrm>
            <a:off x="507998" y="3590775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/>
              <a:t>Bottom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D1E355-B68E-7781-749E-145AAB574CDB}"/>
              </a:ext>
            </a:extLst>
          </p:cNvPr>
          <p:cNvSpPr txBox="1"/>
          <p:nvPr/>
        </p:nvSpPr>
        <p:spPr>
          <a:xfrm>
            <a:off x="353505" y="4830943"/>
            <a:ext cx="11470533" cy="1531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>
                <a:solidFill>
                  <a:srgbClr val="038900"/>
                </a:solidFill>
              </a:rPr>
              <a:t>Ola Electric </a:t>
            </a:r>
            <a:r>
              <a:rPr lang="en-IN" sz="1600"/>
              <a:t>doubled its sales, growing from </a:t>
            </a:r>
            <a:r>
              <a:rPr lang="en-IN" sz="1600" b="1">
                <a:solidFill>
                  <a:srgbClr val="038900"/>
                </a:solidFill>
              </a:rPr>
              <a:t>153K</a:t>
            </a:r>
            <a:r>
              <a:rPr lang="en-IN" sz="1600"/>
              <a:t> units in 2023 to </a:t>
            </a:r>
            <a:r>
              <a:rPr lang="en-IN" sz="1600" b="1">
                <a:solidFill>
                  <a:srgbClr val="038900"/>
                </a:solidFill>
              </a:rPr>
              <a:t>322K</a:t>
            </a:r>
            <a:r>
              <a:rPr lang="en-IN" sz="1600"/>
              <a:t> units in 2024 | TVS jumping from </a:t>
            </a:r>
            <a:r>
              <a:rPr lang="en-IN" sz="1600" b="1">
                <a:solidFill>
                  <a:srgbClr val="038900"/>
                </a:solidFill>
              </a:rPr>
              <a:t>82K</a:t>
            </a:r>
            <a:r>
              <a:rPr lang="en-IN" sz="1600"/>
              <a:t> to </a:t>
            </a:r>
            <a:r>
              <a:rPr lang="en-IN" sz="1600" b="1">
                <a:solidFill>
                  <a:srgbClr val="038900"/>
                </a:solidFill>
              </a:rPr>
              <a:t>181K </a:t>
            </a:r>
            <a:r>
              <a:rPr lang="en-IN" sz="1600"/>
              <a:t>units </a:t>
            </a:r>
            <a:r>
              <a:rPr lang="en-IN" sz="1600" b="1">
                <a:solidFill>
                  <a:srgbClr val="038900"/>
                </a:solidFill>
              </a:rPr>
              <a:t>(~120%) </a:t>
            </a:r>
            <a:r>
              <a:rPr lang="en-IN" sz="1600"/>
              <a:t>increase &amp; climbing from 5th to 2nd place | Bajaj was not in the Top 5 in 2023 but secured the 4th spot in 2024 with </a:t>
            </a:r>
            <a:r>
              <a:rPr lang="en-IN" sz="1600" b="1">
                <a:solidFill>
                  <a:srgbClr val="038900"/>
                </a:solidFill>
              </a:rPr>
              <a:t>106K</a:t>
            </a:r>
            <a:r>
              <a:rPr lang="en-IN" sz="1600"/>
              <a:t> units.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2023 - Okinawa </a:t>
            </a:r>
            <a:r>
              <a:rPr lang="en-IN" sz="1600" b="1">
                <a:solidFill>
                  <a:srgbClr val="038900"/>
                </a:solidFill>
              </a:rPr>
              <a:t>(97K</a:t>
            </a:r>
            <a:r>
              <a:rPr lang="en-IN" sz="1600"/>
              <a:t>)  &amp;  Ampere </a:t>
            </a:r>
            <a:r>
              <a:rPr lang="en-IN" sz="1600" b="1">
                <a:solidFill>
                  <a:srgbClr val="038900"/>
                </a:solidFill>
              </a:rPr>
              <a:t>(87K</a:t>
            </a:r>
            <a:r>
              <a:rPr lang="en-IN" sz="1600"/>
              <a:t>) - have completely dropped out in 2024 | Hero Electric fell from </a:t>
            </a:r>
            <a:r>
              <a:rPr lang="en-IN" sz="1600" b="1">
                <a:solidFill>
                  <a:srgbClr val="038900"/>
                </a:solidFill>
              </a:rPr>
              <a:t>89K</a:t>
            </a:r>
            <a:r>
              <a:rPr lang="en-IN" sz="1600"/>
              <a:t> units in 2023 to the </a:t>
            </a:r>
            <a:r>
              <a:rPr lang="en-IN" sz="1600" b="1">
                <a:solidFill>
                  <a:srgbClr val="038900"/>
                </a:solidFill>
              </a:rPr>
              <a:t>(11.9K units)(~86%) </a:t>
            </a:r>
            <a:r>
              <a:rPr lang="en-IN" sz="1600"/>
              <a:t>drop in 2024. </a:t>
            </a:r>
          </a:p>
        </p:txBody>
      </p:sp>
    </p:spTree>
    <p:extLst>
      <p:ext uri="{BB962C8B-B14F-4D97-AF65-F5344CB8AC3E}">
        <p14:creationId xmlns:p14="http://schemas.microsoft.com/office/powerpoint/2010/main" val="2374110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8CA8E82-3D4B-2FC3-4BBC-4B44BCBA8F05}"/>
              </a:ext>
            </a:extLst>
          </p:cNvPr>
          <p:cNvSpPr txBox="1"/>
          <p:nvPr/>
        </p:nvSpPr>
        <p:spPr>
          <a:xfrm>
            <a:off x="707010" y="69843"/>
            <a:ext cx="11563352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List </a:t>
            </a:r>
            <a:r>
              <a:rPr lang="en-US" sz="1798" b="1" dirty="0">
                <a:solidFill>
                  <a:srgbClr val="038900"/>
                </a:solidFill>
              </a:rPr>
              <a:t>the top 5 and bottom 5 makers for the fiscal years 2023 and 2024 in terms of the number of 4-wheelers sold.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BC13EE-0719-C40F-BCBF-FE8ABF7F4283}"/>
              </a:ext>
            </a:extLst>
          </p:cNvPr>
          <p:cNvSpPr txBox="1"/>
          <p:nvPr/>
        </p:nvSpPr>
        <p:spPr>
          <a:xfrm>
            <a:off x="6549175" y="508543"/>
            <a:ext cx="4915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85EEF0-6204-16A9-FE59-886324CAC4D9}"/>
              </a:ext>
            </a:extLst>
          </p:cNvPr>
          <p:cNvSpPr txBox="1"/>
          <p:nvPr/>
        </p:nvSpPr>
        <p:spPr>
          <a:xfrm>
            <a:off x="879929" y="508543"/>
            <a:ext cx="4877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  </a:t>
            </a:r>
          </a:p>
        </p:txBody>
      </p:sp>
      <p:pic>
        <p:nvPicPr>
          <p:cNvPr id="3" name="Picture 2" descr="A green rectangular object with numbers&#10;&#10;AI-generated content may be incorrect.">
            <a:extLst>
              <a:ext uri="{FF2B5EF4-FFF2-40B4-BE49-F238E27FC236}">
                <a16:creationId xmlns:a16="http://schemas.microsoft.com/office/drawing/2014/main" id="{95852753-B22E-F754-3D6F-7E3E4124B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928" y="886008"/>
            <a:ext cx="4877223" cy="1722269"/>
          </a:xfrm>
          <a:prstGeom prst="rect">
            <a:avLst/>
          </a:prstGeom>
        </p:spPr>
      </p:pic>
      <p:pic>
        <p:nvPicPr>
          <p:cNvPr id="9" name="Picture 8" descr="A green bar graph with numbers&#10;&#10;AI-generated content may be incorrect.">
            <a:extLst>
              <a:ext uri="{FF2B5EF4-FFF2-40B4-BE49-F238E27FC236}">
                <a16:creationId xmlns:a16="http://schemas.microsoft.com/office/drawing/2014/main" id="{1A3F2327-96B7-1D78-8043-6E37BF6BE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584" y="2739030"/>
            <a:ext cx="4930567" cy="1767993"/>
          </a:xfrm>
          <a:prstGeom prst="rect">
            <a:avLst/>
          </a:prstGeom>
        </p:spPr>
      </p:pic>
      <p:pic>
        <p:nvPicPr>
          <p:cNvPr id="13" name="Picture 12" descr="A green rectangles with numbers&#10;&#10;AI-generated content may be incorrect.">
            <a:extLst>
              <a:ext uri="{FF2B5EF4-FFF2-40B4-BE49-F238E27FC236}">
                <a16:creationId xmlns:a16="http://schemas.microsoft.com/office/drawing/2014/main" id="{A1882E0F-F53A-3CB1-D5D1-8387989B2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9175" y="886008"/>
            <a:ext cx="4915326" cy="1767993"/>
          </a:xfrm>
          <a:prstGeom prst="rect">
            <a:avLst/>
          </a:prstGeom>
        </p:spPr>
      </p:pic>
      <p:pic>
        <p:nvPicPr>
          <p:cNvPr id="16" name="Picture 15" descr="A green bar graph with numbers&#10;&#10;AI-generated content may be incorrect.">
            <a:extLst>
              <a:ext uri="{FF2B5EF4-FFF2-40B4-BE49-F238E27FC236}">
                <a16:creationId xmlns:a16="http://schemas.microsoft.com/office/drawing/2014/main" id="{FA301698-D554-9861-BEBD-7FABA991AC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9175" y="2739281"/>
            <a:ext cx="4892464" cy="1737511"/>
          </a:xfrm>
          <a:prstGeom prst="rect">
            <a:avLst/>
          </a:prstGeom>
        </p:spPr>
      </p:pic>
      <p:sp>
        <p:nvSpPr>
          <p:cNvPr id="2" name="Arrow: Pentagon 1">
            <a:extLst>
              <a:ext uri="{FF2B5EF4-FFF2-40B4-BE49-F238E27FC236}">
                <a16:creationId xmlns:a16="http://schemas.microsoft.com/office/drawing/2014/main" id="{E195F0C5-7854-B170-CA2E-BDC53D9EE612}"/>
              </a:ext>
            </a:extLst>
          </p:cNvPr>
          <p:cNvSpPr/>
          <p:nvPr/>
        </p:nvSpPr>
        <p:spPr>
          <a:xfrm>
            <a:off x="0" y="86240"/>
            <a:ext cx="707010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A58FFE-AD08-0314-8705-977AF01F281A}"/>
              </a:ext>
            </a:extLst>
          </p:cNvPr>
          <p:cNvSpPr txBox="1"/>
          <p:nvPr/>
        </p:nvSpPr>
        <p:spPr>
          <a:xfrm>
            <a:off x="810704" y="1387961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/>
              <a:t>Top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206376-CB21-46C5-C0CA-7A8779DB162B}"/>
              </a:ext>
            </a:extLst>
          </p:cNvPr>
          <p:cNvSpPr txBox="1"/>
          <p:nvPr/>
        </p:nvSpPr>
        <p:spPr>
          <a:xfrm>
            <a:off x="558954" y="346456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/>
              <a:t>Bottom 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3C055C-345F-53F9-166C-1C16398F2F5B}"/>
              </a:ext>
            </a:extLst>
          </p:cNvPr>
          <p:cNvSpPr txBox="1"/>
          <p:nvPr/>
        </p:nvSpPr>
        <p:spPr>
          <a:xfrm>
            <a:off x="1262627" y="4660790"/>
            <a:ext cx="11007735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Top 3 Makers – Tata Motors(</a:t>
            </a:r>
            <a:r>
              <a:rPr lang="en-IN" b="1">
                <a:solidFill>
                  <a:srgbClr val="038900"/>
                </a:solidFill>
              </a:rPr>
              <a:t>72%</a:t>
            </a:r>
            <a:r>
              <a:rPr lang="en-IN"/>
              <a:t>), Mahindra(</a:t>
            </a:r>
            <a:r>
              <a:rPr lang="en-IN" b="1">
                <a:solidFill>
                  <a:srgbClr val="038900"/>
                </a:solidFill>
              </a:rPr>
              <a:t>69%</a:t>
            </a:r>
            <a:r>
              <a:rPr lang="en-IN"/>
              <a:t>), MG Motors(</a:t>
            </a:r>
            <a:r>
              <a:rPr lang="en-IN" b="1">
                <a:solidFill>
                  <a:srgbClr val="038900"/>
                </a:solidFill>
              </a:rPr>
              <a:t>169%</a:t>
            </a:r>
            <a:r>
              <a:rPr lang="en-IN"/>
              <a:t>) YoY increase from 2023 to 2024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Volvo Auto India, KIA Motors, Mercedes – Benz AG remains in bottom 5 from 2023 to 2024</a:t>
            </a:r>
          </a:p>
        </p:txBody>
      </p:sp>
    </p:spTree>
    <p:extLst>
      <p:ext uri="{BB962C8B-B14F-4D97-AF65-F5344CB8AC3E}">
        <p14:creationId xmlns:p14="http://schemas.microsoft.com/office/powerpoint/2010/main" val="2910844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DAD0CD-5F94-78DA-26A9-F5D059598681}"/>
              </a:ext>
            </a:extLst>
          </p:cNvPr>
          <p:cNvSpPr txBox="1"/>
          <p:nvPr/>
        </p:nvSpPr>
        <p:spPr>
          <a:xfrm>
            <a:off x="707088" y="57387"/>
            <a:ext cx="11274006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Identify </a:t>
            </a:r>
            <a:r>
              <a:rPr lang="en-US" sz="1798" b="1" dirty="0">
                <a:solidFill>
                  <a:srgbClr val="038900"/>
                </a:solidFill>
              </a:rPr>
              <a:t>the top 5 states with the highest penetration rate in 2-wheeler and 4-wheeler EV sales in FY 2023 &amp; 2024.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D6292B-8193-A33F-F44C-0F2BDAA4B081}"/>
              </a:ext>
            </a:extLst>
          </p:cNvPr>
          <p:cNvSpPr txBox="1"/>
          <p:nvPr/>
        </p:nvSpPr>
        <p:spPr>
          <a:xfrm>
            <a:off x="634403" y="1496831"/>
            <a:ext cx="1905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2-wheelers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5A60EA-9954-086E-DEAC-098CB790EE65}"/>
              </a:ext>
            </a:extLst>
          </p:cNvPr>
          <p:cNvSpPr txBox="1"/>
          <p:nvPr/>
        </p:nvSpPr>
        <p:spPr>
          <a:xfrm>
            <a:off x="634403" y="3496100"/>
            <a:ext cx="1905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4-wheelers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25F3CC2-D99A-CB40-E8F6-DEFE0DDCA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786" y="790811"/>
            <a:ext cx="4697243" cy="178578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2A12C1C-4E2F-C9CD-8B1C-C6D0A5471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786" y="2731854"/>
            <a:ext cx="4697243" cy="186871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36A3E6F-867C-BF83-017D-D7AF4D38E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6875" y="2731854"/>
            <a:ext cx="4697243" cy="188774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9968264-9FCB-8991-364A-92A0BDFDA6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6876" y="769674"/>
            <a:ext cx="4697243" cy="180988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AE8C1AA-ED38-309E-0FB7-CE16C69521DB}"/>
              </a:ext>
            </a:extLst>
          </p:cNvPr>
          <p:cNvSpPr txBox="1"/>
          <p:nvPr/>
        </p:nvSpPr>
        <p:spPr>
          <a:xfrm>
            <a:off x="1616875" y="461897"/>
            <a:ext cx="4727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46DFAE-5681-591D-03EF-D6254E9277EB}"/>
              </a:ext>
            </a:extLst>
          </p:cNvPr>
          <p:cNvSpPr txBox="1"/>
          <p:nvPr/>
        </p:nvSpPr>
        <p:spPr>
          <a:xfrm>
            <a:off x="6754786" y="461897"/>
            <a:ext cx="4697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3D0BB84-29EC-9A0D-DA43-D5AB3F808A19}"/>
              </a:ext>
            </a:extLst>
          </p:cNvPr>
          <p:cNvSpPr/>
          <p:nvPr/>
        </p:nvSpPr>
        <p:spPr>
          <a:xfrm>
            <a:off x="0" y="86240"/>
            <a:ext cx="707010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C18A16-918E-5BC8-52F7-00EA66507A7E}"/>
              </a:ext>
            </a:extLst>
          </p:cNvPr>
          <p:cNvSpPr txBox="1"/>
          <p:nvPr/>
        </p:nvSpPr>
        <p:spPr>
          <a:xfrm>
            <a:off x="670745" y="4720420"/>
            <a:ext cx="11346691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 Wheelers  : Goa(</a:t>
            </a:r>
            <a:r>
              <a:rPr lang="en-IN" sz="1600" b="1">
                <a:solidFill>
                  <a:srgbClr val="038900"/>
                </a:solidFill>
              </a:rPr>
              <a:t>12.5% -&gt; 18%</a:t>
            </a:r>
            <a:r>
              <a:rPr lang="en-IN" sz="1600"/>
              <a:t>), Kerala(</a:t>
            </a:r>
            <a:r>
              <a:rPr lang="en-IN" sz="1600" b="1">
                <a:solidFill>
                  <a:srgbClr val="038900"/>
                </a:solidFill>
              </a:rPr>
              <a:t>8.4% -&gt; 13.5%</a:t>
            </a:r>
            <a:r>
              <a:rPr lang="en-IN" sz="1600"/>
              <a:t>), Karnataka(</a:t>
            </a:r>
            <a:r>
              <a:rPr lang="en-IN" sz="1600" b="1">
                <a:solidFill>
                  <a:srgbClr val="038900"/>
                </a:solidFill>
              </a:rPr>
              <a:t>9.2% -&gt; 11.6%</a:t>
            </a:r>
            <a:r>
              <a:rPr lang="en-IN" sz="1600"/>
              <a:t>) |Delhi shows declined rate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4 Wheelers  : Kerala(</a:t>
            </a:r>
            <a:r>
              <a:rPr lang="en-IN" sz="1600" b="1">
                <a:solidFill>
                  <a:srgbClr val="038900"/>
                </a:solidFill>
              </a:rPr>
              <a:t>2.4% -&gt; 5.8</a:t>
            </a:r>
            <a:r>
              <a:rPr lang="en-IN" sz="1600"/>
              <a:t>%), Chandigarh new one (</a:t>
            </a:r>
            <a:r>
              <a:rPr lang="en-IN" sz="1600" b="1">
                <a:solidFill>
                  <a:srgbClr val="038900"/>
                </a:solidFill>
              </a:rPr>
              <a:t>4.5%</a:t>
            </a:r>
            <a:r>
              <a:rPr lang="en-IN" sz="1600"/>
              <a:t>) | Delhi, Karnataka, Goa all have same(</a:t>
            </a:r>
            <a:r>
              <a:rPr lang="en-IN" sz="1600" b="1">
                <a:solidFill>
                  <a:srgbClr val="038900"/>
                </a:solidFill>
              </a:rPr>
              <a:t>4.3%)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Overall 2-wheeler EV penetration (</a:t>
            </a:r>
            <a:r>
              <a:rPr lang="en-IN" sz="1600" b="1">
                <a:solidFill>
                  <a:srgbClr val="038900"/>
                </a:solidFill>
              </a:rPr>
              <a:t>10-18%</a:t>
            </a:r>
            <a:r>
              <a:rPr lang="en-IN" sz="1600"/>
              <a:t>) significantly higher compare to 4-wheelers (</a:t>
            </a:r>
            <a:r>
              <a:rPr lang="en-IN" sz="1600" b="1">
                <a:solidFill>
                  <a:srgbClr val="038900"/>
                </a:solidFill>
              </a:rPr>
              <a:t>4-6%</a:t>
            </a:r>
            <a:r>
              <a:rPr lang="en-IN" sz="16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10842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FF0ED8-A8A6-09D6-B4F1-427059DCDF94}"/>
              </a:ext>
            </a:extLst>
          </p:cNvPr>
          <p:cNvSpPr txBox="1"/>
          <p:nvPr/>
        </p:nvSpPr>
        <p:spPr>
          <a:xfrm>
            <a:off x="707010" y="70232"/>
            <a:ext cx="9517379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List </a:t>
            </a:r>
            <a:r>
              <a:rPr lang="en-US" sz="1798" b="1" dirty="0">
                <a:solidFill>
                  <a:srgbClr val="038900"/>
                </a:solidFill>
              </a:rPr>
              <a:t>the states with negative penetration (decline) in EV sales from 2022 to 2024?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1EE3F32C-96CC-C14F-2E6C-C61B1C7AC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10" y="1668059"/>
            <a:ext cx="4038950" cy="8077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264482-5BD0-BD56-EF07-1A2B4F5A9FDF}"/>
              </a:ext>
            </a:extLst>
          </p:cNvPr>
          <p:cNvSpPr txBox="1"/>
          <p:nvPr/>
        </p:nvSpPr>
        <p:spPr>
          <a:xfrm>
            <a:off x="707011" y="1178915"/>
            <a:ext cx="40389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2-wheelers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D35277-E5AD-2CAA-D873-D3FBE5074058}"/>
              </a:ext>
            </a:extLst>
          </p:cNvPr>
          <p:cNvSpPr txBox="1"/>
          <p:nvPr/>
        </p:nvSpPr>
        <p:spPr>
          <a:xfrm>
            <a:off x="251732" y="3428675"/>
            <a:ext cx="5913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4</a:t>
            </a:r>
            <a:r>
              <a:rPr lang="en-IN" sz="1600" b="1"/>
              <a:t>-wheelers</a:t>
            </a:r>
            <a:endParaRPr lang="en-IN" sz="16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7851D5-C311-71E4-861C-91CBAD3DC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731" y="3849385"/>
            <a:ext cx="5913632" cy="708721"/>
          </a:xfrm>
          <a:prstGeom prst="rect">
            <a:avLst/>
          </a:prstGeom>
        </p:spPr>
      </p:pic>
      <p:sp>
        <p:nvSpPr>
          <p:cNvPr id="2" name="Arrow: Pentagon 1">
            <a:extLst>
              <a:ext uri="{FF2B5EF4-FFF2-40B4-BE49-F238E27FC236}">
                <a16:creationId xmlns:a16="http://schemas.microsoft.com/office/drawing/2014/main" id="{2006F23C-6390-9B42-E4D3-BF7EC8276657}"/>
              </a:ext>
            </a:extLst>
          </p:cNvPr>
          <p:cNvSpPr/>
          <p:nvPr/>
        </p:nvSpPr>
        <p:spPr>
          <a:xfrm>
            <a:off x="0" y="86240"/>
            <a:ext cx="707010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BFCF2A-235E-90E1-2990-CBD0D55C27BA}"/>
              </a:ext>
            </a:extLst>
          </p:cNvPr>
          <p:cNvSpPr txBox="1"/>
          <p:nvPr/>
        </p:nvSpPr>
        <p:spPr>
          <a:xfrm>
            <a:off x="5390561" y="1344900"/>
            <a:ext cx="6094428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2022 vs 2023: Declined by </a:t>
            </a:r>
            <a:r>
              <a:rPr lang="en-IN" sz="1600" b="1">
                <a:solidFill>
                  <a:srgbClr val="038900"/>
                </a:solidFill>
              </a:rPr>
              <a:t>-3.74%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2023 vs 2024: Recovered with </a:t>
            </a:r>
            <a:r>
              <a:rPr lang="en-IN" sz="1600" b="1">
                <a:solidFill>
                  <a:srgbClr val="038900"/>
                </a:solidFill>
              </a:rPr>
              <a:t>+3.33%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Net 2022 vs 2024: </a:t>
            </a:r>
            <a:r>
              <a:rPr lang="en-IN" sz="1600" b="1">
                <a:solidFill>
                  <a:srgbClr val="038900"/>
                </a:solidFill>
              </a:rPr>
              <a:t>-0.41% </a:t>
            </a:r>
            <a:r>
              <a:rPr lang="en-IN" sz="1600"/>
              <a:t>decline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681D96-D262-21B8-5CC7-9C7BAB41D8F6}"/>
              </a:ext>
            </a:extLst>
          </p:cNvPr>
          <p:cNvSpPr txBox="1"/>
          <p:nvPr/>
        </p:nvSpPr>
        <p:spPr>
          <a:xfrm>
            <a:off x="6506852" y="3597952"/>
            <a:ext cx="5433416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2022 vs 2023: Declined by </a:t>
            </a:r>
            <a:r>
              <a:rPr lang="en-IN" sz="1600" b="1">
                <a:solidFill>
                  <a:srgbClr val="038900"/>
                </a:solidFill>
              </a:rPr>
              <a:t>-1.54%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2023 vs 2024: Recovery of </a:t>
            </a:r>
            <a:r>
              <a:rPr lang="en-IN" sz="1600" b="1">
                <a:solidFill>
                  <a:srgbClr val="038900"/>
                </a:solidFill>
              </a:rPr>
              <a:t>+0.51%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Net 2022 vs 2024: </a:t>
            </a:r>
            <a:r>
              <a:rPr lang="en-IN" sz="1600" b="1">
                <a:solidFill>
                  <a:srgbClr val="038900"/>
                </a:solidFill>
              </a:rPr>
              <a:t>-1.04% </a:t>
            </a:r>
            <a:r>
              <a:rPr lang="en-IN" sz="1600"/>
              <a:t>decline</a:t>
            </a:r>
          </a:p>
        </p:txBody>
      </p:sp>
    </p:spTree>
    <p:extLst>
      <p:ext uri="{BB962C8B-B14F-4D97-AF65-F5344CB8AC3E}">
        <p14:creationId xmlns:p14="http://schemas.microsoft.com/office/powerpoint/2010/main" val="2750266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40D545-7CB4-1532-1CC2-858E71AE63FB}"/>
              </a:ext>
            </a:extLst>
          </p:cNvPr>
          <p:cNvSpPr txBox="1"/>
          <p:nvPr/>
        </p:nvSpPr>
        <p:spPr>
          <a:xfrm>
            <a:off x="707010" y="70232"/>
            <a:ext cx="10988042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What </a:t>
            </a:r>
            <a:r>
              <a:rPr lang="en-US" sz="1798" b="1" dirty="0">
                <a:solidFill>
                  <a:srgbClr val="038900"/>
                </a:solidFill>
              </a:rPr>
              <a:t>are the quarterly trends based on sales volume for the top 5 EV makers (4-wheelers) from 2022 to 2024?</a:t>
            </a:r>
            <a:endParaRPr lang="en-IN" sz="1798" b="1" dirty="0">
              <a:solidFill>
                <a:srgbClr val="0389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A5D31F-1B58-FCE8-A1B6-58238FEB7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74" y="1318078"/>
            <a:ext cx="4183379" cy="21490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F171A5-DCC9-7143-BC1C-EA505531F995}"/>
              </a:ext>
            </a:extLst>
          </p:cNvPr>
          <p:cNvSpPr txBox="1"/>
          <p:nvPr/>
        </p:nvSpPr>
        <p:spPr>
          <a:xfrm>
            <a:off x="4326353" y="3598485"/>
            <a:ext cx="4011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371776-8312-CFE5-49B9-2B2C1B80439E}"/>
              </a:ext>
            </a:extLst>
          </p:cNvPr>
          <p:cNvSpPr txBox="1"/>
          <p:nvPr/>
        </p:nvSpPr>
        <p:spPr>
          <a:xfrm>
            <a:off x="8338097" y="3598485"/>
            <a:ext cx="3623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47A74D-E19C-E3A0-0F17-B66CE5C37EE0}"/>
              </a:ext>
            </a:extLst>
          </p:cNvPr>
          <p:cNvSpPr txBox="1"/>
          <p:nvPr/>
        </p:nvSpPr>
        <p:spPr>
          <a:xfrm>
            <a:off x="142974" y="3598485"/>
            <a:ext cx="4183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4EC483-BB35-AE30-045E-FB44FB461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353" y="1318078"/>
            <a:ext cx="3943535" cy="21109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7A7086-613A-7CE6-5CC6-29605C7B69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8097" y="1318078"/>
            <a:ext cx="3623497" cy="2110922"/>
          </a:xfrm>
          <a:prstGeom prst="rect">
            <a:avLst/>
          </a:prstGeom>
        </p:spPr>
      </p:pic>
      <p:sp>
        <p:nvSpPr>
          <p:cNvPr id="2" name="Arrow: Pentagon 1">
            <a:extLst>
              <a:ext uri="{FF2B5EF4-FFF2-40B4-BE49-F238E27FC236}">
                <a16:creationId xmlns:a16="http://schemas.microsoft.com/office/drawing/2014/main" id="{C1C9F66C-629F-83D4-72E7-50F66F39A52A}"/>
              </a:ext>
            </a:extLst>
          </p:cNvPr>
          <p:cNvSpPr/>
          <p:nvPr/>
        </p:nvSpPr>
        <p:spPr>
          <a:xfrm>
            <a:off x="0" y="86240"/>
            <a:ext cx="707010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7DBC56-1A9B-DBD8-25A1-6173340A41B9}"/>
              </a:ext>
            </a:extLst>
          </p:cNvPr>
          <p:cNvSpPr txBox="1"/>
          <p:nvPr/>
        </p:nvSpPr>
        <p:spPr>
          <a:xfrm>
            <a:off x="1029840" y="4212513"/>
            <a:ext cx="10342382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Tata Motors leads in almost all quarters except 2024 Q1, where Mahindra briefly overtakes with 11K sales.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Mahindra’s strong Q1 is followed by a significant drop, reaching only 2K in Q4.</a:t>
            </a:r>
          </a:p>
        </p:txBody>
      </p:sp>
    </p:spTree>
    <p:extLst>
      <p:ext uri="{BB962C8B-B14F-4D97-AF65-F5344CB8AC3E}">
        <p14:creationId xmlns:p14="http://schemas.microsoft.com/office/powerpoint/2010/main" val="3031833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5535D8-FDF4-0784-F8A1-1A81FB0122CC}"/>
              </a:ext>
            </a:extLst>
          </p:cNvPr>
          <p:cNvSpPr txBox="1"/>
          <p:nvPr/>
        </p:nvSpPr>
        <p:spPr>
          <a:xfrm>
            <a:off x="4288244" y="3304832"/>
            <a:ext cx="3943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F5093D-1BEE-3A62-04BE-E51FD1A18F28}"/>
              </a:ext>
            </a:extLst>
          </p:cNvPr>
          <p:cNvSpPr txBox="1"/>
          <p:nvPr/>
        </p:nvSpPr>
        <p:spPr>
          <a:xfrm>
            <a:off x="8231780" y="3329567"/>
            <a:ext cx="3639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9036C9-EEDA-CAA1-CCBD-44D638358816}"/>
              </a:ext>
            </a:extLst>
          </p:cNvPr>
          <p:cNvSpPr txBox="1"/>
          <p:nvPr/>
        </p:nvSpPr>
        <p:spPr>
          <a:xfrm>
            <a:off x="205736" y="3329567"/>
            <a:ext cx="4082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784CB8-B14D-9F82-1694-50F002930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780" y="965360"/>
            <a:ext cx="3639253" cy="21185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83DDE9-CE98-47AE-82EC-53BB522E9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244" y="1011086"/>
            <a:ext cx="3943535" cy="20728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A8FD93-3994-1335-50BD-B76CD545D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36" y="1049189"/>
            <a:ext cx="4082510" cy="20347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D47557-17D2-CAC8-54A7-F65C50C37AC8}"/>
              </a:ext>
            </a:extLst>
          </p:cNvPr>
          <p:cNvSpPr txBox="1"/>
          <p:nvPr/>
        </p:nvSpPr>
        <p:spPr>
          <a:xfrm>
            <a:off x="710423" y="54225"/>
            <a:ext cx="10988042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What </a:t>
            </a:r>
            <a:r>
              <a:rPr lang="en-US" sz="1798" b="1" dirty="0">
                <a:solidFill>
                  <a:srgbClr val="038900"/>
                </a:solidFill>
              </a:rPr>
              <a:t>are the quarterly trends based on sales volume for the top 5 EV </a:t>
            </a:r>
            <a:r>
              <a:rPr lang="en-US" sz="1798" b="1">
                <a:solidFill>
                  <a:srgbClr val="038900"/>
                </a:solidFill>
              </a:rPr>
              <a:t>makers (2-wheelers</a:t>
            </a:r>
            <a:r>
              <a:rPr lang="en-US" sz="1798" b="1" dirty="0">
                <a:solidFill>
                  <a:srgbClr val="038900"/>
                </a:solidFill>
              </a:rPr>
              <a:t>) from 2022 to 2024?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0CB1B908-647A-8FA1-720E-1D32BF627575}"/>
              </a:ext>
            </a:extLst>
          </p:cNvPr>
          <p:cNvSpPr/>
          <p:nvPr/>
        </p:nvSpPr>
        <p:spPr>
          <a:xfrm>
            <a:off x="0" y="86240"/>
            <a:ext cx="707010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C2C5EA-D96A-6A1D-FC3B-3576B645537D}"/>
              </a:ext>
            </a:extLst>
          </p:cNvPr>
          <p:cNvSpPr txBox="1"/>
          <p:nvPr/>
        </p:nvSpPr>
        <p:spPr>
          <a:xfrm>
            <a:off x="1841403" y="3774096"/>
            <a:ext cx="8837215" cy="227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2024 volumes are significantly higher across all quarters compared to 2022.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Q4 consistently records highest sales each year, driven by festive demand.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Q1 is the weakest quarter, suggesting post-festival slowdown &amp; budget sensitivity.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2022 : Market dominated by Hero Electric &amp; Okinawa.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2023 : Entry and rise of Ola Electric &amp; TVS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Hero Electric and Okinawa show slower growth by 2024.</a:t>
            </a:r>
          </a:p>
        </p:txBody>
      </p:sp>
    </p:spTree>
    <p:extLst>
      <p:ext uri="{BB962C8B-B14F-4D97-AF65-F5344CB8AC3E}">
        <p14:creationId xmlns:p14="http://schemas.microsoft.com/office/powerpoint/2010/main" val="2384931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586874-2C4C-E22A-4246-60E78E176F3E}"/>
              </a:ext>
            </a:extLst>
          </p:cNvPr>
          <p:cNvSpPr txBox="1"/>
          <p:nvPr/>
        </p:nvSpPr>
        <p:spPr>
          <a:xfrm>
            <a:off x="707010" y="70232"/>
            <a:ext cx="9775596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How </a:t>
            </a:r>
            <a:r>
              <a:rPr lang="en-US" sz="1798" b="1" dirty="0">
                <a:solidFill>
                  <a:srgbClr val="038900"/>
                </a:solidFill>
              </a:rPr>
              <a:t>do the EV sales and penetration rates in Delhi compare to </a:t>
            </a:r>
            <a:r>
              <a:rPr lang="en-US" sz="1798" b="1">
                <a:solidFill>
                  <a:srgbClr val="038900"/>
                </a:solidFill>
              </a:rPr>
              <a:t>Karnataka from 2022 to 2024?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764483-DF29-2BD0-64BC-93BA099D1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223" y="1331758"/>
            <a:ext cx="3635055" cy="15469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7ECA9E-C805-C607-0280-3700049D53FF}"/>
              </a:ext>
            </a:extLst>
          </p:cNvPr>
          <p:cNvSpPr txBox="1"/>
          <p:nvPr/>
        </p:nvSpPr>
        <p:spPr>
          <a:xfrm>
            <a:off x="4159224" y="1018025"/>
            <a:ext cx="3635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EB78DE-6227-A9E8-04F3-1AB58E0AD9CF}"/>
              </a:ext>
            </a:extLst>
          </p:cNvPr>
          <p:cNvSpPr txBox="1"/>
          <p:nvPr/>
        </p:nvSpPr>
        <p:spPr>
          <a:xfrm>
            <a:off x="8005402" y="1027452"/>
            <a:ext cx="3627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/>
              <a:t>2024</a:t>
            </a:r>
            <a:endParaRPr lang="en-IN" sz="14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93C307-1EA2-A326-7381-7A01DABC5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401" y="1343188"/>
            <a:ext cx="3627432" cy="15241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8490814-1840-0918-35EA-2A52A02A0F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529" y="1325802"/>
            <a:ext cx="3604571" cy="14631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F49270-6D93-4DC3-B2B9-B9FDC714D26D}"/>
              </a:ext>
            </a:extLst>
          </p:cNvPr>
          <p:cNvSpPr txBox="1"/>
          <p:nvPr/>
        </p:nvSpPr>
        <p:spPr>
          <a:xfrm>
            <a:off x="390144" y="1018025"/>
            <a:ext cx="3557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2022</a:t>
            </a: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019ED3D1-95F0-DD5C-C17E-4C22A1AA2F3C}"/>
              </a:ext>
            </a:extLst>
          </p:cNvPr>
          <p:cNvSpPr/>
          <p:nvPr/>
        </p:nvSpPr>
        <p:spPr>
          <a:xfrm>
            <a:off x="0" y="86240"/>
            <a:ext cx="707010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5CF98A-08E2-05EF-AA26-FA0850EBC66F}"/>
              </a:ext>
            </a:extLst>
          </p:cNvPr>
          <p:cNvSpPr txBox="1"/>
          <p:nvPr/>
        </p:nvSpPr>
        <p:spPr>
          <a:xfrm>
            <a:off x="353505" y="3103815"/>
            <a:ext cx="11242689" cy="1900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EV Sales : Karnataka significantly outperformed Delhi with </a:t>
            </a:r>
            <a:r>
              <a:rPr lang="en-IN" sz="1600" b="1">
                <a:solidFill>
                  <a:srgbClr val="038900"/>
                </a:solidFill>
              </a:rPr>
              <a:t>160,989</a:t>
            </a:r>
            <a:r>
              <a:rPr lang="en-IN" sz="1600"/>
              <a:t> EV units sold vs Delhi's </a:t>
            </a:r>
            <a:r>
              <a:rPr lang="en-IN" sz="1600" b="1">
                <a:solidFill>
                  <a:srgbClr val="038900"/>
                </a:solidFill>
              </a:rPr>
              <a:t>46,724</a:t>
            </a:r>
            <a:r>
              <a:rPr lang="en-IN" sz="1600"/>
              <a:t> (Karnataka sold </a:t>
            </a:r>
            <a:r>
              <a:rPr lang="en-IN" sz="1600" b="1">
                <a:solidFill>
                  <a:srgbClr val="038900"/>
                </a:solidFill>
              </a:rPr>
              <a:t>~3.4 </a:t>
            </a:r>
            <a:r>
              <a:rPr lang="en-IN" sz="1600"/>
              <a:t>times more).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Penetration Rate: Karnataka achieved a higher rate at </a:t>
            </a:r>
            <a:r>
              <a:rPr lang="en-IN" sz="1600" b="1">
                <a:solidFill>
                  <a:srgbClr val="038900"/>
                </a:solidFill>
              </a:rPr>
              <a:t>10.18%</a:t>
            </a:r>
            <a:r>
              <a:rPr lang="en-IN" sz="1600"/>
              <a:t> compared to Delhi's </a:t>
            </a:r>
            <a:r>
              <a:rPr lang="en-IN" sz="1600" b="1">
                <a:solidFill>
                  <a:srgbClr val="038900"/>
                </a:solidFill>
              </a:rPr>
              <a:t>7.71%</a:t>
            </a:r>
            <a:r>
              <a:rPr lang="en-IN" sz="1600"/>
              <a:t> (a gap of ~2.47%).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In prior years (2022–2023), the states had very similar penetration (~4.2% in 2022 and ~7.6–7.8% in 2023), but Karnataka pulled ahead decisively in 2024.</a:t>
            </a:r>
          </a:p>
        </p:txBody>
      </p:sp>
    </p:spTree>
    <p:extLst>
      <p:ext uri="{BB962C8B-B14F-4D97-AF65-F5344CB8AC3E}">
        <p14:creationId xmlns:p14="http://schemas.microsoft.com/office/powerpoint/2010/main" val="2878880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B31476-C65A-68BA-07B5-4E80F878A637}"/>
              </a:ext>
            </a:extLst>
          </p:cNvPr>
          <p:cNvSpPr txBox="1"/>
          <p:nvPr/>
        </p:nvSpPr>
        <p:spPr>
          <a:xfrm>
            <a:off x="838566" y="71535"/>
            <a:ext cx="11163299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List </a:t>
            </a:r>
            <a:r>
              <a:rPr lang="en-US" sz="1798" b="1" dirty="0">
                <a:solidFill>
                  <a:srgbClr val="038900"/>
                </a:solidFill>
              </a:rPr>
              <a:t>down the compounded annual growth rate (CAGR) </a:t>
            </a:r>
            <a:r>
              <a:rPr lang="en-US" sz="1798" b="1">
                <a:solidFill>
                  <a:srgbClr val="038900"/>
                </a:solidFill>
              </a:rPr>
              <a:t>in 2-W&amp; 4-W for </a:t>
            </a:r>
            <a:r>
              <a:rPr lang="en-US" sz="1798" b="1" dirty="0">
                <a:solidFill>
                  <a:srgbClr val="038900"/>
                </a:solidFill>
              </a:rPr>
              <a:t>the top 5 makers from 2022 to 2024.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261279-BD71-292D-6D53-59A803473D31}"/>
              </a:ext>
            </a:extLst>
          </p:cNvPr>
          <p:cNvSpPr txBox="1"/>
          <p:nvPr/>
        </p:nvSpPr>
        <p:spPr>
          <a:xfrm>
            <a:off x="118788" y="1262586"/>
            <a:ext cx="1402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2-Wheelers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D8691A-BA1C-1B80-F5A1-ABC01619DE64}"/>
              </a:ext>
            </a:extLst>
          </p:cNvPr>
          <p:cNvSpPr txBox="1"/>
          <p:nvPr/>
        </p:nvSpPr>
        <p:spPr>
          <a:xfrm>
            <a:off x="6327250" y="1262585"/>
            <a:ext cx="1402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4-Wheelers</a:t>
            </a: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042702B8-0D24-D43B-275A-B32E9F06B412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1D7285-751A-3FD8-63D8-8D1F926366DE}"/>
              </a:ext>
            </a:extLst>
          </p:cNvPr>
          <p:cNvSpPr txBox="1"/>
          <p:nvPr/>
        </p:nvSpPr>
        <p:spPr>
          <a:xfrm>
            <a:off x="501138" y="2955973"/>
            <a:ext cx="4608190" cy="227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OLA Electric leads the market with </a:t>
            </a:r>
            <a:r>
              <a:rPr lang="en-US" sz="1600" b="1">
                <a:solidFill>
                  <a:srgbClr val="038900"/>
                </a:solidFill>
              </a:rPr>
              <a:t>~489K </a:t>
            </a:r>
            <a:r>
              <a:rPr lang="en-US" sz="1600"/>
              <a:t>units sold, showing explosive growth (</a:t>
            </a:r>
            <a:r>
              <a:rPr lang="en-US" sz="1600" b="1">
                <a:solidFill>
                  <a:srgbClr val="038900"/>
                </a:solidFill>
              </a:rPr>
              <a:t>373%</a:t>
            </a:r>
            <a:r>
              <a:rPr lang="en-US" sz="1600"/>
              <a:t> CAGR).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TVS emerges as a strong challenger with </a:t>
            </a:r>
            <a:r>
              <a:rPr lang="en-US" sz="1600" b="1">
                <a:solidFill>
                  <a:srgbClr val="038900"/>
                </a:solidFill>
              </a:rPr>
              <a:t>330%</a:t>
            </a:r>
            <a:r>
              <a:rPr lang="en-US" sz="1600"/>
              <a:t> CAGR, indicating rapid scale-up.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Hero Electric shows a sharp decline (-</a:t>
            </a:r>
            <a:r>
              <a:rPr lang="en-US" sz="1600" b="1">
                <a:solidFill>
                  <a:srgbClr val="038900"/>
                </a:solidFill>
              </a:rPr>
              <a:t>58% </a:t>
            </a:r>
            <a:r>
              <a:rPr lang="en-US" sz="1600"/>
              <a:t>CAGR), signaling loss of market momentum.</a:t>
            </a:r>
            <a:endParaRPr lang="en-IN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ACE64E-B9D5-5FA8-CC51-1086B34DEF0F}"/>
              </a:ext>
            </a:extLst>
          </p:cNvPr>
          <p:cNvSpPr txBox="1"/>
          <p:nvPr/>
        </p:nvSpPr>
        <p:spPr>
          <a:xfrm>
            <a:off x="5907437" y="2955973"/>
            <a:ext cx="6094428" cy="3008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Tata Motors dominates volumes (~</a:t>
            </a:r>
            <a:r>
              <a:rPr lang="en-US" sz="1600" b="1">
                <a:solidFill>
                  <a:srgbClr val="038900"/>
                </a:solidFill>
              </a:rPr>
              <a:t>89K</a:t>
            </a:r>
            <a:r>
              <a:rPr lang="en-US" sz="1600"/>
              <a:t> units sold) with steady growth (</a:t>
            </a:r>
            <a:r>
              <a:rPr lang="en-US" sz="1600" b="1">
                <a:solidFill>
                  <a:srgbClr val="038900"/>
                </a:solidFill>
              </a:rPr>
              <a:t>95% </a:t>
            </a:r>
            <a:r>
              <a:rPr lang="en-US" sz="1600"/>
              <a:t>CAGR).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Mahindra &amp; MG Motor show strong momentum (</a:t>
            </a:r>
            <a:r>
              <a:rPr lang="en-US" sz="1600" b="1">
                <a:solidFill>
                  <a:srgbClr val="038900"/>
                </a:solidFill>
              </a:rPr>
              <a:t>130–140% </a:t>
            </a:r>
            <a:r>
              <a:rPr lang="en-US" sz="1600"/>
              <a:t>CAGR), indicating rising competition.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BYD India records exceptional growth (</a:t>
            </a:r>
            <a:r>
              <a:rPr lang="en-US" sz="1600" b="1">
                <a:solidFill>
                  <a:srgbClr val="038900"/>
                </a:solidFill>
              </a:rPr>
              <a:t>566% </a:t>
            </a:r>
            <a:r>
              <a:rPr lang="en-US" sz="1600"/>
              <a:t>CAGR) despite low base volumes—strong future potential.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Hyundai shows rapid early growth (</a:t>
            </a:r>
            <a:r>
              <a:rPr lang="en-US" sz="1600" b="1">
                <a:solidFill>
                  <a:srgbClr val="038900"/>
                </a:solidFill>
              </a:rPr>
              <a:t>255% </a:t>
            </a:r>
            <a:r>
              <a:rPr lang="en-US" sz="1600"/>
              <a:t>CAGR) but remains in the adoption phase.</a:t>
            </a:r>
            <a:endParaRPr lang="en-IN" sz="1600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F8C66FE5-F80F-EB08-5632-E4E91F791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495" y="734194"/>
            <a:ext cx="3994768" cy="2124132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3E4950-8ADF-3F6C-257B-6C3EBA0A2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496" y="734194"/>
            <a:ext cx="4101046" cy="209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320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BFFF63-2CD2-E0FC-76B8-4A41FD50300B}"/>
              </a:ext>
            </a:extLst>
          </p:cNvPr>
          <p:cNvSpPr txBox="1"/>
          <p:nvPr/>
        </p:nvSpPr>
        <p:spPr>
          <a:xfrm>
            <a:off x="825466" y="66472"/>
            <a:ext cx="11193709" cy="64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List </a:t>
            </a:r>
            <a:r>
              <a:rPr lang="en-US" sz="1798" b="1" dirty="0">
                <a:solidFill>
                  <a:srgbClr val="038900"/>
                </a:solidFill>
              </a:rPr>
              <a:t>down the top 10 states that had the highest compounded annual growth rate (CAGR) from 2022 to 2024 in total vehicles sold.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436D433B-761F-3650-8274-25732C43153A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-9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19830DB9-02B3-9E37-3CA1-35007E9FA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66" y="1325315"/>
            <a:ext cx="4220971" cy="34092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038F7C-7ADB-F7CC-5D86-5D1CC3B2B03A}"/>
              </a:ext>
            </a:extLst>
          </p:cNvPr>
          <p:cNvSpPr txBox="1"/>
          <p:nvPr/>
        </p:nvSpPr>
        <p:spPr>
          <a:xfrm>
            <a:off x="5413344" y="2079950"/>
            <a:ext cx="6094428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Meghalaya has highest CAGR(</a:t>
            </a:r>
            <a:r>
              <a:rPr lang="en-IN" b="1">
                <a:solidFill>
                  <a:srgbClr val="038900"/>
                </a:solidFill>
              </a:rPr>
              <a:t>28.5%</a:t>
            </a:r>
            <a:r>
              <a:rPr lang="en-IN"/>
              <a:t>) | units sold</a:t>
            </a:r>
            <a:r>
              <a:rPr lang="en-IN" b="1">
                <a:solidFill>
                  <a:srgbClr val="038900"/>
                </a:solidFill>
              </a:rPr>
              <a:t>(~90k</a:t>
            </a:r>
            <a:r>
              <a:rPr lang="en-IN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 followed by Goa CAGR(</a:t>
            </a:r>
            <a:r>
              <a:rPr lang="en-IN" b="1">
                <a:solidFill>
                  <a:srgbClr val="038900"/>
                </a:solidFill>
              </a:rPr>
              <a:t>27.4%</a:t>
            </a:r>
            <a:r>
              <a:rPr lang="en-IN"/>
              <a:t>) | units sold</a:t>
            </a:r>
            <a:r>
              <a:rPr lang="en-IN" b="1">
                <a:solidFill>
                  <a:srgbClr val="038900"/>
                </a:solidFill>
              </a:rPr>
              <a:t>(~200k</a:t>
            </a:r>
            <a:r>
              <a:rPr lang="en-IN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Karnataka CAGR</a:t>
            </a:r>
            <a:r>
              <a:rPr lang="en-IN" b="1">
                <a:solidFill>
                  <a:srgbClr val="038900"/>
                </a:solidFill>
              </a:rPr>
              <a:t>(25.3%) </a:t>
            </a:r>
            <a:r>
              <a:rPr lang="en-IN"/>
              <a:t>| units sold</a:t>
            </a:r>
            <a:r>
              <a:rPr lang="en-IN" b="1">
                <a:solidFill>
                  <a:srgbClr val="038900"/>
                </a:solidFill>
              </a:rPr>
              <a:t>(~4M)</a:t>
            </a:r>
            <a:endParaRPr lang="en-IN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Gujarat CAGR</a:t>
            </a:r>
            <a:r>
              <a:rPr lang="en-IN" b="1">
                <a:solidFill>
                  <a:srgbClr val="038900"/>
                </a:solidFill>
              </a:rPr>
              <a:t>(20.5%) </a:t>
            </a:r>
            <a:r>
              <a:rPr lang="en-IN"/>
              <a:t>| units sold</a:t>
            </a:r>
            <a:r>
              <a:rPr lang="en-IN" b="1">
                <a:solidFill>
                  <a:srgbClr val="038900"/>
                </a:solidFill>
              </a:rPr>
              <a:t>(~4.1M)</a:t>
            </a:r>
          </a:p>
        </p:txBody>
      </p:sp>
    </p:spTree>
    <p:extLst>
      <p:ext uri="{BB962C8B-B14F-4D97-AF65-F5344CB8AC3E}">
        <p14:creationId xmlns:p14="http://schemas.microsoft.com/office/powerpoint/2010/main" val="2642479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077A2-C6E9-68C5-E9C0-81F57FFF66D5}"/>
              </a:ext>
            </a:extLst>
          </p:cNvPr>
          <p:cNvSpPr txBox="1"/>
          <p:nvPr/>
        </p:nvSpPr>
        <p:spPr>
          <a:xfrm>
            <a:off x="776278" y="70232"/>
            <a:ext cx="10995661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What </a:t>
            </a:r>
            <a:r>
              <a:rPr lang="en-US" sz="1798" b="1" dirty="0">
                <a:solidFill>
                  <a:srgbClr val="038900"/>
                </a:solidFill>
              </a:rPr>
              <a:t>are the peak and low season months for EV sales based on the data from 2022 to 2024?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0B5359-4AB2-314F-D5F0-4C0DC8BBE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3420" y="563014"/>
            <a:ext cx="2255715" cy="36731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FF0482-4579-A368-9A21-04B20299A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278" y="647855"/>
            <a:ext cx="8161727" cy="3322608"/>
          </a:xfrm>
          <a:prstGeom prst="rect">
            <a:avLst/>
          </a:prstGeom>
        </p:spPr>
      </p:pic>
      <p:sp>
        <p:nvSpPr>
          <p:cNvPr id="2" name="Arrow: Pentagon 1">
            <a:extLst>
              <a:ext uri="{FF2B5EF4-FFF2-40B4-BE49-F238E27FC236}">
                <a16:creationId xmlns:a16="http://schemas.microsoft.com/office/drawing/2014/main" id="{7CCD7C4A-216A-3554-C697-B8EC35DAD69F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989D44-2202-FABD-B505-91FD8B3F6624}"/>
              </a:ext>
            </a:extLst>
          </p:cNvPr>
          <p:cNvSpPr txBox="1"/>
          <p:nvPr/>
        </p:nvSpPr>
        <p:spPr>
          <a:xfrm>
            <a:off x="776278" y="4236172"/>
            <a:ext cx="7788603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>
                <a:solidFill>
                  <a:srgbClr val="038900"/>
                </a:solidFill>
              </a:rPr>
              <a:t>March</a:t>
            </a:r>
            <a:r>
              <a:rPr lang="en-IN"/>
              <a:t> is a Peak Month for the EV sold units across all the 3 years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2022-2023 : </a:t>
            </a:r>
            <a:r>
              <a:rPr lang="en-IN" b="1">
                <a:solidFill>
                  <a:srgbClr val="038900"/>
                </a:solidFill>
              </a:rPr>
              <a:t>May</a:t>
            </a:r>
            <a:r>
              <a:rPr lang="en-IN"/>
              <a:t> is a low demand month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But in 2024 </a:t>
            </a:r>
            <a:r>
              <a:rPr lang="en-IN" b="1">
                <a:solidFill>
                  <a:srgbClr val="038900"/>
                </a:solidFill>
              </a:rPr>
              <a:t>June</a:t>
            </a:r>
            <a:r>
              <a:rPr lang="en-IN"/>
              <a:t> is a low demand month</a:t>
            </a:r>
          </a:p>
        </p:txBody>
      </p:sp>
    </p:spTree>
    <p:extLst>
      <p:ext uri="{BB962C8B-B14F-4D97-AF65-F5344CB8AC3E}">
        <p14:creationId xmlns:p14="http://schemas.microsoft.com/office/powerpoint/2010/main" val="2370002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D2931C-8259-FD2C-5CB2-3B4A4BC822B4}"/>
              </a:ext>
            </a:extLst>
          </p:cNvPr>
          <p:cNvSpPr txBox="1"/>
          <p:nvPr/>
        </p:nvSpPr>
        <p:spPr>
          <a:xfrm>
            <a:off x="838566" y="86240"/>
            <a:ext cx="11199463" cy="64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What </a:t>
            </a:r>
            <a:r>
              <a:rPr lang="en-US" sz="1798" b="1" dirty="0">
                <a:solidFill>
                  <a:srgbClr val="038900"/>
                </a:solidFill>
              </a:rPr>
              <a:t>is the projected number of EV sales (including 2-wheelers and 4 wheelers) for the top 10 states by penetration rate in 2030, based on the compounded annual growth rate (CAGR) from previous years?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1F2680DA-9792-533C-847D-D33EE6B9883D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26FDA9-8746-A7EF-839C-4D162F6AEC79}"/>
              </a:ext>
            </a:extLst>
          </p:cNvPr>
          <p:cNvSpPr txBox="1"/>
          <p:nvPr/>
        </p:nvSpPr>
        <p:spPr>
          <a:xfrm>
            <a:off x="644793" y="3994368"/>
            <a:ext cx="11294853" cy="1900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Maharashtra leads EV sales (</a:t>
            </a:r>
            <a:r>
              <a:rPr lang="en-US" sz="1600" b="1">
                <a:solidFill>
                  <a:srgbClr val="038900"/>
                </a:solidFill>
              </a:rPr>
              <a:t>~396K </a:t>
            </a:r>
            <a:r>
              <a:rPr lang="en-US" sz="1600"/>
              <a:t>units) &amp; projected to reach </a:t>
            </a:r>
            <a:r>
              <a:rPr lang="en-US" sz="1600" b="1">
                <a:solidFill>
                  <a:srgbClr val="038900"/>
                </a:solidFill>
              </a:rPr>
              <a:t>13.35M</a:t>
            </a:r>
            <a:r>
              <a:rPr lang="en-US" sz="1600"/>
              <a:t> by 2030, making it the largest EV market.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Kerala &amp; Gujarat are high-growth acceleration markets, with EV CAGR above </a:t>
            </a:r>
            <a:r>
              <a:rPr lang="en-US" sz="1600" b="1">
                <a:solidFill>
                  <a:srgbClr val="038900"/>
                </a:solidFill>
              </a:rPr>
              <a:t>115%</a:t>
            </a:r>
            <a:r>
              <a:rPr lang="en-US" sz="1600"/>
              <a:t>, ideal for rapid expansion.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Goa &amp; Chandigarh, showing the highest growth rates despite smaller base volumes.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Karnataka combines high penetration with strong demand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Delhi &amp; Tamil Nadu show moderate growth, suggesting emerging saturation or higher price sensitivity.</a:t>
            </a:r>
            <a:endParaRPr lang="en-IN" sz="1600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D8877251-1D6D-4B0F-07CF-E2CC6FEB2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492" y="837296"/>
            <a:ext cx="4760715" cy="3000451"/>
          </a:xfrm>
          <a:prstGeom prst="rect">
            <a:avLst/>
          </a:prstGeom>
        </p:spPr>
      </p:pic>
      <p:pic>
        <p:nvPicPr>
          <p:cNvPr id="10" name="Picture 9" descr="A graph showing sales and a number of people&#10;&#10;AI-generated content may be incorrect.">
            <a:extLst>
              <a:ext uri="{FF2B5EF4-FFF2-40B4-BE49-F238E27FC236}">
                <a16:creationId xmlns:a16="http://schemas.microsoft.com/office/drawing/2014/main" id="{180EDFEA-3195-453E-E3B4-911799363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93" y="888551"/>
            <a:ext cx="5921253" cy="29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5673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7C04D8-A5D8-FF32-DF9F-5652B501CA08}"/>
              </a:ext>
            </a:extLst>
          </p:cNvPr>
          <p:cNvSpPr txBox="1"/>
          <p:nvPr/>
        </p:nvSpPr>
        <p:spPr>
          <a:xfrm>
            <a:off x="838566" y="70232"/>
            <a:ext cx="11761197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Estimate </a:t>
            </a:r>
            <a:r>
              <a:rPr lang="en-US" sz="1798" b="1" dirty="0">
                <a:solidFill>
                  <a:srgbClr val="038900"/>
                </a:solidFill>
              </a:rPr>
              <a:t>the revenue growth rate of 4-wheeler and 2-wheelers EVs in India for 2022 vs 2024 and 2023 vs 2024</a:t>
            </a:r>
            <a:endParaRPr lang="en-IN" sz="1798" b="1" dirty="0">
              <a:solidFill>
                <a:srgbClr val="0389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5F33C2-B110-F50F-716B-3E45BC341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19" y="1007473"/>
            <a:ext cx="4701947" cy="4084674"/>
          </a:xfrm>
          <a:prstGeom prst="rect">
            <a:avLst/>
          </a:prstGeom>
        </p:spPr>
      </p:pic>
      <p:sp>
        <p:nvSpPr>
          <p:cNvPr id="2" name="Arrow: Pentagon 1">
            <a:extLst>
              <a:ext uri="{FF2B5EF4-FFF2-40B4-BE49-F238E27FC236}">
                <a16:creationId xmlns:a16="http://schemas.microsoft.com/office/drawing/2014/main" id="{80E2BAF8-B442-B434-C04C-45BEFF4E9FEE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085B56-8424-28B1-9828-DB69B85B7874}"/>
              </a:ext>
            </a:extLst>
          </p:cNvPr>
          <p:cNvSpPr txBox="1"/>
          <p:nvPr/>
        </p:nvSpPr>
        <p:spPr>
          <a:xfrm>
            <a:off x="5329921" y="914226"/>
            <a:ext cx="6301818" cy="448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600" b="1" u="sng">
                <a:solidFill>
                  <a:srgbClr val="038900"/>
                </a:solidFill>
              </a:rPr>
              <a:t>(2022 - 2024)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4-Wheelers lead revenue expansion with a </a:t>
            </a:r>
            <a:r>
              <a:rPr lang="en-IN" sz="1600" b="1">
                <a:solidFill>
                  <a:srgbClr val="038900"/>
                </a:solidFill>
              </a:rPr>
              <a:t>~368% </a:t>
            </a:r>
            <a:r>
              <a:rPr lang="en-IN" sz="1600"/>
              <a:t>growth, significantly outperforming 2-wheelers.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2-Wheelers grew </a:t>
            </a:r>
            <a:r>
              <a:rPr lang="en-IN" sz="1600" b="1">
                <a:solidFill>
                  <a:srgbClr val="038900"/>
                </a:solidFill>
              </a:rPr>
              <a:t>~269%</a:t>
            </a:r>
            <a:r>
              <a:rPr lang="en-IN" sz="1600"/>
              <a:t>, showing strong adoption but at a slower pace compare to 4-wheelers.</a:t>
            </a:r>
          </a:p>
          <a:p>
            <a:pPr algn="just"/>
            <a:endParaRPr lang="en-IN" sz="1600"/>
          </a:p>
          <a:p>
            <a:pPr algn="just"/>
            <a:r>
              <a:rPr lang="en-IN" sz="1600" b="1" u="sng">
                <a:solidFill>
                  <a:srgbClr val="038900"/>
                </a:solidFill>
              </a:rPr>
              <a:t>(2023 - 2024)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4-Wheelers sustained strong growth </a:t>
            </a:r>
            <a:r>
              <a:rPr lang="en-IN" sz="1600" b="1">
                <a:solidFill>
                  <a:srgbClr val="038900"/>
                </a:solidFill>
              </a:rPr>
              <a:t>(83%)</a:t>
            </a:r>
            <a:r>
              <a:rPr lang="en-IN" sz="1600"/>
              <a:t>, indicating continued demand.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2-Wheelers growth slowed sharply </a:t>
            </a:r>
            <a:r>
              <a:rPr lang="en-IN" sz="1600" b="1">
                <a:solidFill>
                  <a:srgbClr val="038900"/>
                </a:solidFill>
              </a:rPr>
              <a:t>(28%), </a:t>
            </a:r>
            <a:r>
              <a:rPr lang="en-IN" sz="1600"/>
              <a:t>signaling Increased competition,Pricing pressure, Saturation in urban markets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future growth will depend on innovation, affordability, and rural penetration.</a:t>
            </a:r>
          </a:p>
        </p:txBody>
      </p:sp>
    </p:spTree>
    <p:extLst>
      <p:ext uri="{BB962C8B-B14F-4D97-AF65-F5344CB8AC3E}">
        <p14:creationId xmlns:p14="http://schemas.microsoft.com/office/powerpoint/2010/main" val="36599129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336FE1E-084C-B616-8FA4-5DE53E057044}"/>
              </a:ext>
            </a:extLst>
          </p:cNvPr>
          <p:cNvSpPr txBox="1"/>
          <p:nvPr/>
        </p:nvSpPr>
        <p:spPr>
          <a:xfrm>
            <a:off x="567535" y="514798"/>
            <a:ext cx="3542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13C3BE-352E-BC62-4034-D14CCB551D4D}"/>
              </a:ext>
            </a:extLst>
          </p:cNvPr>
          <p:cNvSpPr txBox="1"/>
          <p:nvPr/>
        </p:nvSpPr>
        <p:spPr>
          <a:xfrm>
            <a:off x="4278135" y="495817"/>
            <a:ext cx="3887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D350E6-DAC0-5EBA-A209-83A09280E0EB}"/>
              </a:ext>
            </a:extLst>
          </p:cNvPr>
          <p:cNvSpPr txBox="1"/>
          <p:nvPr/>
        </p:nvSpPr>
        <p:spPr>
          <a:xfrm>
            <a:off x="8293562" y="493841"/>
            <a:ext cx="3597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F51C254-401F-9913-5798-CF5C38C6C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35" y="801618"/>
            <a:ext cx="3604572" cy="340643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7C92240-4E43-9A7B-0D50-DC51DDADC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8135" y="805428"/>
            <a:ext cx="3909399" cy="336071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67B89E6-8ADB-0224-FB94-A90528ED05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1355" y="805428"/>
            <a:ext cx="3619814" cy="34369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FA8F72-3ADE-24AE-0147-9C59A768D17B}"/>
              </a:ext>
            </a:extLst>
          </p:cNvPr>
          <p:cNvSpPr txBox="1"/>
          <p:nvPr/>
        </p:nvSpPr>
        <p:spPr>
          <a:xfrm>
            <a:off x="838566" y="54225"/>
            <a:ext cx="11761197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98" b="1">
                <a:solidFill>
                  <a:srgbClr val="038900"/>
                </a:solidFill>
              </a:rPr>
              <a:t>Top 10 Makers based on Revenue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94474120-8464-A55C-60B7-BC7319711240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-13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7D83AA-6136-8FFF-6FBF-74BBA88DB72D}"/>
              </a:ext>
            </a:extLst>
          </p:cNvPr>
          <p:cNvSpPr txBox="1"/>
          <p:nvPr/>
        </p:nvSpPr>
        <p:spPr>
          <a:xfrm>
            <a:off x="559914" y="4344044"/>
            <a:ext cx="11323633" cy="1900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>
                <a:solidFill>
                  <a:srgbClr val="038900"/>
                </a:solidFill>
              </a:rPr>
              <a:t>Tata Motors </a:t>
            </a:r>
            <a:r>
              <a:rPr lang="en-IN" sz="1600"/>
              <a:t>consistently dominates across all 3 years :  </a:t>
            </a:r>
            <a:r>
              <a:rPr lang="en-IN" sz="1600" b="1">
                <a:solidFill>
                  <a:srgbClr val="038900"/>
                </a:solidFill>
              </a:rPr>
              <a:t>₹19.1bn</a:t>
            </a:r>
            <a:r>
              <a:rPr lang="en-IN" sz="1600"/>
              <a:t> (2022) → </a:t>
            </a:r>
            <a:r>
              <a:rPr lang="en-IN" sz="1600" b="1">
                <a:solidFill>
                  <a:srgbClr val="038900"/>
                </a:solidFill>
              </a:rPr>
              <a:t>₹42bn </a:t>
            </a:r>
            <a:r>
              <a:rPr lang="en-IN" sz="1600"/>
              <a:t>(2023) → </a:t>
            </a:r>
            <a:r>
              <a:rPr lang="en-IN" sz="1600" b="1">
                <a:solidFill>
                  <a:srgbClr val="038900"/>
                </a:solidFill>
              </a:rPr>
              <a:t>₹72bn </a:t>
            </a:r>
            <a:r>
              <a:rPr lang="en-IN" sz="1600"/>
              <a:t>(2024).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>
                <a:solidFill>
                  <a:srgbClr val="038900"/>
                </a:solidFill>
              </a:rPr>
              <a:t>Mahindra</a:t>
            </a:r>
            <a:r>
              <a:rPr lang="en-IN" sz="1600"/>
              <a:t> holds its 2nd position across all 3 years : </a:t>
            </a:r>
            <a:r>
              <a:rPr lang="en-IN" sz="1600" b="1">
                <a:solidFill>
                  <a:srgbClr val="038900"/>
                </a:solidFill>
              </a:rPr>
              <a:t>₹6.1bn</a:t>
            </a:r>
            <a:r>
              <a:rPr lang="en-IN" sz="1600"/>
              <a:t> (2022) → </a:t>
            </a:r>
            <a:r>
              <a:rPr lang="en-IN" sz="1600" b="1">
                <a:solidFill>
                  <a:srgbClr val="038900"/>
                </a:solidFill>
              </a:rPr>
              <a:t>₹21bn</a:t>
            </a:r>
            <a:r>
              <a:rPr lang="en-IN" sz="1600"/>
              <a:t> (2023) → </a:t>
            </a:r>
            <a:r>
              <a:rPr lang="en-IN" sz="1600" b="1">
                <a:solidFill>
                  <a:srgbClr val="038900"/>
                </a:solidFill>
              </a:rPr>
              <a:t>₹35bn</a:t>
            </a:r>
            <a:r>
              <a:rPr lang="en-IN" sz="1600"/>
              <a:t> (2024).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>
                <a:solidFill>
                  <a:srgbClr val="038900"/>
                </a:solidFill>
              </a:rPr>
              <a:t>Ola Electric </a:t>
            </a:r>
            <a:r>
              <a:rPr lang="en-IN" sz="1600"/>
              <a:t>jumps from last position in 2022 (</a:t>
            </a:r>
            <a:r>
              <a:rPr lang="en-IN" sz="1600" b="1">
                <a:solidFill>
                  <a:srgbClr val="038900"/>
                </a:solidFill>
              </a:rPr>
              <a:t>₹1.2bn</a:t>
            </a:r>
            <a:r>
              <a:rPr lang="en-IN" sz="1600"/>
              <a:t>) to Top 3 by 2024 (</a:t>
            </a:r>
            <a:r>
              <a:rPr lang="en-IN" sz="1600" b="1">
                <a:solidFill>
                  <a:srgbClr val="038900"/>
                </a:solidFill>
              </a:rPr>
              <a:t>₹27 bn</a:t>
            </a:r>
            <a:r>
              <a:rPr lang="en-IN" sz="1600"/>
              <a:t>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Brands like TVS (</a:t>
            </a:r>
            <a:r>
              <a:rPr lang="en-IN" sz="1600" b="1">
                <a:solidFill>
                  <a:srgbClr val="038900"/>
                </a:solidFill>
              </a:rPr>
              <a:t>₹15bn</a:t>
            </a:r>
            <a:r>
              <a:rPr lang="en-IN" sz="1600"/>
              <a:t>), Ather (</a:t>
            </a:r>
            <a:r>
              <a:rPr lang="en-IN" sz="1600" b="1">
                <a:solidFill>
                  <a:srgbClr val="038900"/>
                </a:solidFill>
              </a:rPr>
              <a:t>₹9bn</a:t>
            </a:r>
            <a:r>
              <a:rPr lang="en-IN" sz="1600"/>
              <a:t>), and Bajaj (</a:t>
            </a:r>
            <a:r>
              <a:rPr lang="en-IN" sz="1600" b="1">
                <a:solidFill>
                  <a:srgbClr val="038900"/>
                </a:solidFill>
              </a:rPr>
              <a:t>₹9bn</a:t>
            </a:r>
            <a:r>
              <a:rPr lang="en-IN" sz="1600"/>
              <a:t>) emerge strongly in 2024.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Companies like Ampere, Okinawa, Hero Electric lose their market share ranking by 2024.</a:t>
            </a:r>
          </a:p>
        </p:txBody>
      </p:sp>
    </p:spTree>
    <p:extLst>
      <p:ext uri="{BB962C8B-B14F-4D97-AF65-F5344CB8AC3E}">
        <p14:creationId xmlns:p14="http://schemas.microsoft.com/office/powerpoint/2010/main" val="25764158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49CFC6-2B6F-0347-9EE2-C82C82D3B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01" y="828847"/>
            <a:ext cx="3589331" cy="36198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506222-DC5B-7734-BADB-C096EF4CD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0906" y="828847"/>
            <a:ext cx="3596952" cy="35969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401357-82F4-4AF3-26CC-AD9A9BE46E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532" y="828847"/>
            <a:ext cx="3589331" cy="35588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B64C69-B045-C1FC-A348-A1BB3B2D6E17}"/>
              </a:ext>
            </a:extLst>
          </p:cNvPr>
          <p:cNvSpPr txBox="1"/>
          <p:nvPr/>
        </p:nvSpPr>
        <p:spPr>
          <a:xfrm>
            <a:off x="529532" y="524828"/>
            <a:ext cx="3589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FFCD2D-155D-EF17-1C16-8F5A6F423796}"/>
              </a:ext>
            </a:extLst>
          </p:cNvPr>
          <p:cNvSpPr txBox="1"/>
          <p:nvPr/>
        </p:nvSpPr>
        <p:spPr>
          <a:xfrm>
            <a:off x="4230907" y="521071"/>
            <a:ext cx="3596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470690-E37F-A71E-104D-BE0D6FA3DA7C}"/>
              </a:ext>
            </a:extLst>
          </p:cNvPr>
          <p:cNvSpPr txBox="1"/>
          <p:nvPr/>
        </p:nvSpPr>
        <p:spPr>
          <a:xfrm>
            <a:off x="7939903" y="521070"/>
            <a:ext cx="358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05A43E-0A22-5CE6-8DDD-F234D01A6F5B}"/>
              </a:ext>
            </a:extLst>
          </p:cNvPr>
          <p:cNvSpPr txBox="1"/>
          <p:nvPr/>
        </p:nvSpPr>
        <p:spPr>
          <a:xfrm>
            <a:off x="838566" y="68440"/>
            <a:ext cx="11761197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98" b="1">
                <a:solidFill>
                  <a:srgbClr val="038900"/>
                </a:solidFill>
              </a:rPr>
              <a:t>Top 10 States based on Revenue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88EC6C6A-7C81-62A7-B7A7-7D9651D95798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DFD474-1E2A-7916-EE69-339DD9826658}"/>
              </a:ext>
            </a:extLst>
          </p:cNvPr>
          <p:cNvSpPr txBox="1"/>
          <p:nvPr/>
        </p:nvSpPr>
        <p:spPr>
          <a:xfrm>
            <a:off x="529531" y="4581524"/>
            <a:ext cx="10999701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>
                <a:solidFill>
                  <a:srgbClr val="038900"/>
                </a:solidFill>
              </a:rPr>
              <a:t>Maharashtra</a:t>
            </a:r>
            <a:r>
              <a:rPr lang="en-IN" sz="1600"/>
              <a:t> leads across all three years, growing from </a:t>
            </a:r>
            <a:r>
              <a:rPr lang="en-IN" sz="1600" b="1">
                <a:solidFill>
                  <a:srgbClr val="038900"/>
                </a:solidFill>
              </a:rPr>
              <a:t>₹13.3bn</a:t>
            </a:r>
            <a:r>
              <a:rPr lang="en-IN" sz="1600"/>
              <a:t>(2022) → ₹</a:t>
            </a:r>
            <a:r>
              <a:rPr lang="en-IN" sz="1600" b="1">
                <a:solidFill>
                  <a:srgbClr val="038900"/>
                </a:solidFill>
              </a:rPr>
              <a:t>36.7bn</a:t>
            </a:r>
            <a:r>
              <a:rPr lang="en-IN" sz="1600"/>
              <a:t>(2024)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>
                <a:solidFill>
                  <a:srgbClr val="038900"/>
                </a:solidFill>
              </a:rPr>
              <a:t>Karnataka</a:t>
            </a:r>
            <a:r>
              <a:rPr lang="en-IN" sz="1600"/>
              <a:t> shows the fastest scale-up, jumping from </a:t>
            </a:r>
            <a:r>
              <a:rPr lang="en-IN" sz="1600" b="1">
                <a:solidFill>
                  <a:srgbClr val="038900"/>
                </a:solidFill>
              </a:rPr>
              <a:t>₹6.3bn</a:t>
            </a:r>
            <a:r>
              <a:rPr lang="en-IN" sz="1600"/>
              <a:t>(2022) → </a:t>
            </a:r>
            <a:r>
              <a:rPr lang="en-IN" sz="1600" b="1">
                <a:solidFill>
                  <a:srgbClr val="038900"/>
                </a:solidFill>
              </a:rPr>
              <a:t>₹31.9bn</a:t>
            </a:r>
            <a:r>
              <a:rPr lang="en-IN" sz="1600"/>
              <a:t>(2024)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>
                <a:solidFill>
                  <a:srgbClr val="038900"/>
                </a:solidFill>
              </a:rPr>
              <a:t>Kerala</a:t>
            </a:r>
            <a:r>
              <a:rPr lang="en-IN" sz="1600"/>
              <a:t> emerges as a high-growth state,</a:t>
            </a:r>
            <a:r>
              <a:rPr lang="en-IN" sz="1600" b="1">
                <a:solidFill>
                  <a:srgbClr val="038900"/>
                </a:solidFill>
              </a:rPr>
              <a:t>4.3bn</a:t>
            </a:r>
            <a:r>
              <a:rPr lang="en-IN" sz="1600"/>
              <a:t>(2022) → </a:t>
            </a:r>
            <a:r>
              <a:rPr lang="en-IN" sz="1600" b="1">
                <a:solidFill>
                  <a:srgbClr val="038900"/>
                </a:solidFill>
              </a:rPr>
              <a:t>19.3bn</a:t>
            </a:r>
            <a:r>
              <a:rPr lang="en-IN" sz="1600"/>
              <a:t>(2024).</a:t>
            </a:r>
          </a:p>
        </p:txBody>
      </p:sp>
    </p:spTree>
    <p:extLst>
      <p:ext uri="{BB962C8B-B14F-4D97-AF65-F5344CB8AC3E}">
        <p14:creationId xmlns:p14="http://schemas.microsoft.com/office/powerpoint/2010/main" val="26150875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A59992-0E65-7132-3155-6F9AE60A7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604" y="1143452"/>
            <a:ext cx="5303980" cy="23014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B8CBB0-0F3F-7A49-1315-3DBF814EA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6721" y="3969577"/>
            <a:ext cx="5273497" cy="22480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88E409-DA6C-98A4-1256-EFD2B045EE06}"/>
              </a:ext>
            </a:extLst>
          </p:cNvPr>
          <p:cNvSpPr txBox="1"/>
          <p:nvPr/>
        </p:nvSpPr>
        <p:spPr>
          <a:xfrm>
            <a:off x="556180" y="736061"/>
            <a:ext cx="51972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585227-06FB-E9AA-3542-392AF5664C66}"/>
              </a:ext>
            </a:extLst>
          </p:cNvPr>
          <p:cNvSpPr txBox="1"/>
          <p:nvPr/>
        </p:nvSpPr>
        <p:spPr>
          <a:xfrm>
            <a:off x="5910604" y="832002"/>
            <a:ext cx="5303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CE7C85-A1CA-C40D-382A-9CB20AF853D6}"/>
              </a:ext>
            </a:extLst>
          </p:cNvPr>
          <p:cNvSpPr txBox="1"/>
          <p:nvPr/>
        </p:nvSpPr>
        <p:spPr>
          <a:xfrm>
            <a:off x="3116722" y="3661800"/>
            <a:ext cx="5273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33E1BC-E5C9-710E-EACC-6581ACD21F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180" y="1139779"/>
            <a:ext cx="5197290" cy="22176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35A610-53D5-A415-ED99-557A3DE0A5A4}"/>
              </a:ext>
            </a:extLst>
          </p:cNvPr>
          <p:cNvSpPr txBox="1"/>
          <p:nvPr/>
        </p:nvSpPr>
        <p:spPr>
          <a:xfrm>
            <a:off x="838566" y="65865"/>
            <a:ext cx="11265031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98" b="1">
                <a:solidFill>
                  <a:srgbClr val="038900"/>
                </a:solidFill>
              </a:rPr>
              <a:t>Total 2-Wheelers &amp; 4-Wheelers Sold by Month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69882D0A-8A5B-EF3D-B6FF-87432D2FF97D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-15</a:t>
            </a:r>
          </a:p>
        </p:txBody>
      </p:sp>
    </p:spTree>
    <p:extLst>
      <p:ext uri="{BB962C8B-B14F-4D97-AF65-F5344CB8AC3E}">
        <p14:creationId xmlns:p14="http://schemas.microsoft.com/office/powerpoint/2010/main" val="32189545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E06465-F27F-C334-8688-D4EC899DE4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879" y="1196500"/>
            <a:ext cx="2026921" cy="202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CC9BAC-5A95-E286-1391-266289B4B2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440" y="3854363"/>
            <a:ext cx="1807137" cy="180713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11465BA-9E91-4126-C163-33EC3A5E4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240" y="2766219"/>
            <a:ext cx="10515600" cy="1325562"/>
          </a:xfrm>
        </p:spPr>
        <p:txBody>
          <a:bodyPr/>
          <a:lstStyle/>
          <a:p>
            <a:pPr algn="ctr"/>
            <a:r>
              <a:rPr lang="en-IN" b="1" u="sng">
                <a:solidFill>
                  <a:srgbClr val="00B050"/>
                </a:solidFill>
                <a:latin typeface="Calibri(Body)"/>
              </a:rPr>
              <a:t>SECONDARY ANALYSIS</a:t>
            </a:r>
          </a:p>
        </p:txBody>
      </p:sp>
    </p:spTree>
    <p:extLst>
      <p:ext uri="{BB962C8B-B14F-4D97-AF65-F5344CB8AC3E}">
        <p14:creationId xmlns:p14="http://schemas.microsoft.com/office/powerpoint/2010/main" val="9615792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5EAAE7-ED0C-5EC5-67D2-69E3CB32E7E0}"/>
              </a:ext>
            </a:extLst>
          </p:cNvPr>
          <p:cNvSpPr txBox="1"/>
          <p:nvPr/>
        </p:nvSpPr>
        <p:spPr>
          <a:xfrm>
            <a:off x="833120" y="1002375"/>
            <a:ext cx="4826525" cy="4301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u="sng">
                <a:solidFill>
                  <a:srgbClr val="038900"/>
                </a:solidFill>
              </a:rPr>
              <a:t>Cost Savings (Long-Term Ownership)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Lower running cost per km compared to ICE vehicles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Reduced maintenance (fewer moving parts)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Rising fuel prices making EVs economically attractive over 5–7 years</a:t>
            </a:r>
          </a:p>
          <a:p>
            <a:pPr>
              <a:buNone/>
            </a:pPr>
            <a:endParaRPr lang="en-US" sz="2000" b="1"/>
          </a:p>
          <a:p>
            <a:pPr>
              <a:buNone/>
            </a:pPr>
            <a:r>
              <a:rPr lang="en-US" sz="2000" b="1" u="sng">
                <a:solidFill>
                  <a:srgbClr val="038900"/>
                </a:solidFill>
              </a:rPr>
              <a:t>Government Incentives</a:t>
            </a:r>
            <a:endParaRPr lang="en-US" sz="2000" u="sng">
              <a:solidFill>
                <a:srgbClr val="0389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Central subsidies (FAME-II,PM E-drive Scheme)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State-level incentives: road tax waiver, registration fee exemption, purchase subsidies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Strong correlation seen in Kerala, Delhi, Maharashtra, Karnataka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5820D7-4E2A-A375-D7DF-2D417EE45C8C}"/>
              </a:ext>
            </a:extLst>
          </p:cNvPr>
          <p:cNvSpPr txBox="1"/>
          <p:nvPr/>
        </p:nvSpPr>
        <p:spPr>
          <a:xfrm>
            <a:off x="833120" y="239700"/>
            <a:ext cx="6916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>
                <a:solidFill>
                  <a:srgbClr val="038900"/>
                </a:solidFill>
              </a:rPr>
              <a:t>Why are customers choosing 4-Wheeler EVs in 2023–2024?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842884-9826-18A6-B24B-1BD179211915}"/>
              </a:ext>
            </a:extLst>
          </p:cNvPr>
          <p:cNvSpPr txBox="1"/>
          <p:nvPr/>
        </p:nvSpPr>
        <p:spPr>
          <a:xfrm>
            <a:off x="6209121" y="2336393"/>
            <a:ext cx="5445552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u="sng">
                <a:solidFill>
                  <a:srgbClr val="038900"/>
                </a:solidFill>
              </a:rPr>
              <a:t>Environmental &amp; Social Factors</a:t>
            </a:r>
            <a:endParaRPr lang="en-US" sz="2000" u="sng">
              <a:solidFill>
                <a:srgbClr val="0389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Urban consumers increasingly value sustainability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Corporate and premium buyers shifting toward EVs to reduce carbon footprint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Alignment with ESG and green mobility goals</a:t>
            </a:r>
          </a:p>
          <a:p>
            <a:pPr>
              <a:buNone/>
            </a:pPr>
            <a:endParaRPr lang="en-US" sz="2000" b="1"/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71EA730B-640E-8C72-B9DA-D17ED1FA146A}"/>
              </a:ext>
            </a:extLst>
          </p:cNvPr>
          <p:cNvSpPr/>
          <p:nvPr/>
        </p:nvSpPr>
        <p:spPr>
          <a:xfrm>
            <a:off x="0" y="197439"/>
            <a:ext cx="833120" cy="484632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SA -1</a:t>
            </a:r>
          </a:p>
        </p:txBody>
      </p:sp>
    </p:spTree>
    <p:extLst>
      <p:ext uri="{BB962C8B-B14F-4D97-AF65-F5344CB8AC3E}">
        <p14:creationId xmlns:p14="http://schemas.microsoft.com/office/powerpoint/2010/main" val="17015365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4F519E9-78A9-CCF7-8BB7-2451DFA96B60}"/>
              </a:ext>
            </a:extLst>
          </p:cNvPr>
          <p:cNvSpPr txBox="1"/>
          <p:nvPr/>
        </p:nvSpPr>
        <p:spPr>
          <a:xfrm>
            <a:off x="864909" y="243848"/>
            <a:ext cx="99712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>
                <a:solidFill>
                  <a:srgbClr val="038900"/>
                </a:solidFill>
              </a:rPr>
              <a:t>Impact of Government Incentives on EV Adoption - Which states benefited the most?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6F9D2E-33C7-D887-8202-2B891BDD07A4}"/>
              </a:ext>
            </a:extLst>
          </p:cNvPr>
          <p:cNvSpPr txBox="1"/>
          <p:nvPr/>
        </p:nvSpPr>
        <p:spPr>
          <a:xfrm>
            <a:off x="833120" y="1374056"/>
            <a:ext cx="80334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>
                <a:solidFill>
                  <a:srgbClr val="038900"/>
                </a:solidFill>
              </a:rPr>
              <a:t>EV Adoption Targets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e-2 Wheelers: </a:t>
            </a:r>
            <a:r>
              <a:rPr lang="en-IN" sz="1600" b="1">
                <a:solidFill>
                  <a:srgbClr val="038900"/>
                </a:solidFill>
              </a:rPr>
              <a:t>~24.79 </a:t>
            </a:r>
            <a:r>
              <a:rPr lang="en-IN" sz="1600"/>
              <a:t>lakh vehicles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e-3 Wheelers: </a:t>
            </a:r>
            <a:r>
              <a:rPr lang="en-IN" sz="1600" b="1">
                <a:solidFill>
                  <a:srgbClr val="038900"/>
                </a:solidFill>
              </a:rPr>
              <a:t>~3.2</a:t>
            </a:r>
            <a:r>
              <a:rPr lang="en-IN" sz="1600"/>
              <a:t> lakh vehicles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e-Ambulances: </a:t>
            </a:r>
            <a:r>
              <a:rPr lang="en-IN" sz="1600" b="1">
                <a:solidFill>
                  <a:srgbClr val="038900"/>
                </a:solidFill>
              </a:rPr>
              <a:t>₹500 </a:t>
            </a:r>
            <a:r>
              <a:rPr lang="en-IN" sz="1600"/>
              <a:t>Cr allocation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e-Trucks: </a:t>
            </a:r>
            <a:r>
              <a:rPr lang="en-IN" sz="1600" b="1">
                <a:solidFill>
                  <a:srgbClr val="038900"/>
                </a:solidFill>
              </a:rPr>
              <a:t>₹500 </a:t>
            </a:r>
            <a:r>
              <a:rPr lang="en-IN" sz="1600"/>
              <a:t>Cr allocation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e-Buses: </a:t>
            </a:r>
            <a:r>
              <a:rPr lang="en-IN" sz="1600" b="1">
                <a:solidFill>
                  <a:srgbClr val="038900"/>
                </a:solidFill>
              </a:rPr>
              <a:t>14,028</a:t>
            </a:r>
            <a:r>
              <a:rPr lang="en-IN" sz="1600"/>
              <a:t> buses | </a:t>
            </a:r>
            <a:r>
              <a:rPr lang="en-IN" sz="1600" b="1">
                <a:solidFill>
                  <a:srgbClr val="038900"/>
                </a:solidFill>
              </a:rPr>
              <a:t>₹4,391 </a:t>
            </a:r>
            <a:r>
              <a:rPr lang="en-IN" sz="1600"/>
              <a:t>Cr allocation</a:t>
            </a:r>
          </a:p>
          <a:p>
            <a:endParaRPr lang="en-IN"/>
          </a:p>
          <a:p>
            <a:r>
              <a:rPr lang="en-US" b="1" u="sng">
                <a:solidFill>
                  <a:srgbClr val="038900"/>
                </a:solidFill>
              </a:rPr>
              <a:t>Demand Incentive Structure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FY 2024–25: </a:t>
            </a:r>
            <a:r>
              <a:rPr lang="en-US" sz="1600" b="1">
                <a:solidFill>
                  <a:srgbClr val="038900"/>
                </a:solidFill>
              </a:rPr>
              <a:t>₹5,000 </a:t>
            </a:r>
            <a:r>
              <a:rPr lang="en-US" sz="1600"/>
              <a:t>/ kWh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FY 2025–26: </a:t>
            </a:r>
            <a:r>
              <a:rPr lang="en-US" sz="1600" b="1">
                <a:solidFill>
                  <a:srgbClr val="038900"/>
                </a:solidFill>
              </a:rPr>
              <a:t>₹2,500 </a:t>
            </a:r>
            <a:r>
              <a:rPr lang="en-US" sz="1600"/>
              <a:t>/ kWh</a:t>
            </a:r>
          </a:p>
          <a:p>
            <a:endParaRPr lang="en-IN"/>
          </a:p>
          <a:p>
            <a:r>
              <a:rPr lang="en-IN" b="1" u="sng">
                <a:solidFill>
                  <a:srgbClr val="038900"/>
                </a:solidFill>
              </a:rPr>
              <a:t>e-Bus Deployment Focus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Priority Cities (&gt;40 lakh population)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Delhi | Mumbai | Kolkata | Chennai | Ahmedabad | Surat | Bengaluru | Pune | Hyderabad</a:t>
            </a:r>
          </a:p>
          <a:p>
            <a:endParaRPr lang="en-IN"/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EF841381-C62A-049F-956C-A3D9BAEF5493}"/>
              </a:ext>
            </a:extLst>
          </p:cNvPr>
          <p:cNvSpPr/>
          <p:nvPr/>
        </p:nvSpPr>
        <p:spPr>
          <a:xfrm>
            <a:off x="0" y="201587"/>
            <a:ext cx="833120" cy="484632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SA -2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63B0D5-D013-F3EE-6502-3522F7160CF3}"/>
              </a:ext>
            </a:extLst>
          </p:cNvPr>
          <p:cNvSpPr txBox="1"/>
          <p:nvPr/>
        </p:nvSpPr>
        <p:spPr>
          <a:xfrm>
            <a:off x="6095999" y="1374056"/>
            <a:ext cx="5511328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>
                <a:solidFill>
                  <a:srgbClr val="038900"/>
                </a:solidFill>
              </a:rPr>
              <a:t>Charging Infrastructure Expansion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Total Allocation: </a:t>
            </a:r>
            <a:r>
              <a:rPr lang="en-US" sz="1600" b="1">
                <a:solidFill>
                  <a:srgbClr val="038900"/>
                </a:solidFill>
              </a:rPr>
              <a:t>₹2,000 </a:t>
            </a:r>
            <a:r>
              <a:rPr lang="en-US" sz="1600"/>
              <a:t>Crore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>
                <a:solidFill>
                  <a:srgbClr val="038900"/>
                </a:solidFill>
              </a:rPr>
              <a:t>22,100</a:t>
            </a:r>
            <a:r>
              <a:rPr lang="en-US" sz="1600"/>
              <a:t> fast chargers for e-4Ws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>
                <a:solidFill>
                  <a:srgbClr val="038900"/>
                </a:solidFill>
              </a:rPr>
              <a:t>1,800 </a:t>
            </a:r>
            <a:r>
              <a:rPr lang="en-US" sz="1600"/>
              <a:t>chargers for e-Buses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>
                <a:solidFill>
                  <a:srgbClr val="038900"/>
                </a:solidFill>
              </a:rPr>
              <a:t>48,400</a:t>
            </a:r>
            <a:r>
              <a:rPr lang="en-US" sz="1600"/>
              <a:t> chargers for e-2Ws &amp; e-3Ws</a:t>
            </a:r>
          </a:p>
          <a:p>
            <a:endParaRPr lang="en-IN">
              <a:solidFill>
                <a:srgbClr val="038900"/>
              </a:solidFill>
            </a:endParaRPr>
          </a:p>
          <a:p>
            <a:r>
              <a:rPr lang="en-US" b="1" u="sng">
                <a:solidFill>
                  <a:srgbClr val="038900"/>
                </a:solidFill>
              </a:rPr>
              <a:t>Testing &amp; Quality Infrastructure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>
                <a:solidFill>
                  <a:srgbClr val="038900"/>
                </a:solidFill>
              </a:rPr>
              <a:t>₹780 </a:t>
            </a:r>
            <a:r>
              <a:rPr lang="en-US" sz="1600"/>
              <a:t>Crore for modernization of MHI testing agencies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Enhances safety, quality, compliance &amp; EV standards</a:t>
            </a:r>
          </a:p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4FE526-6E77-E4BA-A93D-283CA49AFB5F}"/>
              </a:ext>
            </a:extLst>
          </p:cNvPr>
          <p:cNvSpPr txBox="1"/>
          <p:nvPr/>
        </p:nvSpPr>
        <p:spPr>
          <a:xfrm>
            <a:off x="2418820" y="824341"/>
            <a:ext cx="7354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PM E-DRIVE Scheme (Oct 2024 – Mar 2026)  -  Total Budget 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b="1">
                <a:solidFill>
                  <a:srgbClr val="038900"/>
                </a:solidFill>
              </a:rPr>
              <a:t>₹10,900 </a:t>
            </a:r>
            <a:r>
              <a:rPr lang="en-US"/>
              <a:t>Crore</a:t>
            </a:r>
          </a:p>
        </p:txBody>
      </p:sp>
    </p:spTree>
    <p:extLst>
      <p:ext uri="{BB962C8B-B14F-4D97-AF65-F5344CB8AC3E}">
        <p14:creationId xmlns:p14="http://schemas.microsoft.com/office/powerpoint/2010/main" val="1195627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CA8369-C21F-1EEE-FE72-15ADA463A81C}"/>
              </a:ext>
            </a:extLst>
          </p:cNvPr>
          <p:cNvSpPr txBox="1"/>
          <p:nvPr/>
        </p:nvSpPr>
        <p:spPr>
          <a:xfrm>
            <a:off x="833120" y="243848"/>
            <a:ext cx="71525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038900"/>
                </a:solidFill>
              </a:rPr>
              <a:t>Charging Infrastructure vs EV Sales - is there a correlation?</a:t>
            </a:r>
            <a:endParaRPr lang="en-IN" sz="2000" b="1">
              <a:solidFill>
                <a:srgbClr val="0389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9EAF29-2B9F-DA52-B0CC-5697D0F0386A}"/>
              </a:ext>
            </a:extLst>
          </p:cNvPr>
          <p:cNvSpPr txBox="1"/>
          <p:nvPr/>
        </p:nvSpPr>
        <p:spPr>
          <a:xfrm>
            <a:off x="1015763" y="1700079"/>
            <a:ext cx="705125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u="sng">
                <a:solidFill>
                  <a:srgbClr val="038900"/>
                </a:solidFill>
              </a:rPr>
              <a:t>Strong Positive Correlation Observed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Top 5 States with High Sales &amp; Penetration - Maharashtra, Karnataka, Delhi, Kerala, Goa</a:t>
            </a:r>
          </a:p>
          <a:p>
            <a:endParaRPr lang="en-US" sz="2000" b="1" u="sng">
              <a:solidFill>
                <a:srgbClr val="038900"/>
              </a:solidFill>
            </a:endParaRPr>
          </a:p>
          <a:p>
            <a:r>
              <a:rPr lang="en-US" sz="2000" b="1" u="sng">
                <a:solidFill>
                  <a:srgbClr val="038900"/>
                </a:solidFill>
              </a:rPr>
              <a:t>States with dense charging infrastructure show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Higher EV penetration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Better repeat adoption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Faster transition from 2W -&gt; 4W EVs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4W EV adoption is highly sensitive to charger availability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2W EV adoption is less dependent but still benefits from infrastructure</a:t>
            </a:r>
          </a:p>
          <a:p>
            <a:pPr>
              <a:buNone/>
            </a:pPr>
            <a:endParaRPr lang="en-US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6E8F7C0F-CFDF-2A04-BE5C-FDC8A9A35156}"/>
              </a:ext>
            </a:extLst>
          </p:cNvPr>
          <p:cNvSpPr/>
          <p:nvPr/>
        </p:nvSpPr>
        <p:spPr>
          <a:xfrm>
            <a:off x="0" y="201587"/>
            <a:ext cx="833120" cy="484632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SA -3</a:t>
            </a:r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FF0F5BA2-CB90-E0BA-8B11-97FB3C8DA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612" y="1180784"/>
            <a:ext cx="3597287" cy="2064303"/>
          </a:xfrm>
          <a:prstGeom prst="rect">
            <a:avLst/>
          </a:prstGeom>
        </p:spPr>
      </p:pic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DA7133A3-B7B6-D525-0DBF-D3B1E4A5E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3611" y="3335367"/>
            <a:ext cx="3597287" cy="224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619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9F3E6A-AB95-19A7-21D5-CE6FF8229CA9}"/>
              </a:ext>
            </a:extLst>
          </p:cNvPr>
          <p:cNvSpPr txBox="1"/>
          <p:nvPr/>
        </p:nvSpPr>
        <p:spPr>
          <a:xfrm>
            <a:off x="833120" y="308417"/>
            <a:ext cx="70111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rgbClr val="038900"/>
                </a:solidFill>
              </a:rPr>
              <a:t>Ideal Brand Ambassador for AtliQ Motors - India Launch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3C57BA-6E22-8A21-89B1-780F495499A1}"/>
              </a:ext>
            </a:extLst>
          </p:cNvPr>
          <p:cNvSpPr txBox="1"/>
          <p:nvPr/>
        </p:nvSpPr>
        <p:spPr>
          <a:xfrm>
            <a:off x="833120" y="1025612"/>
            <a:ext cx="10640506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Recommended Brand Ambassador : </a:t>
            </a:r>
            <a:r>
              <a:rPr lang="en-IN" b="1" u="sng">
                <a:solidFill>
                  <a:srgbClr val="038900"/>
                </a:solidFill>
              </a:rPr>
              <a:t>MS Dhoni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High fan following across urban + semi-urban India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Appeals to both mass (2W) and premium (4W) audiences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Known for Calm leadership, Reliability, Long-term thinking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Already associated with sustainability and EV startups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Dhoni represents trust, performance, and reliability - perfectly aligned with AtliQ’s EV &amp; Hybrid positioning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519B972D-2C99-ED45-5C36-292971D1174E}"/>
              </a:ext>
            </a:extLst>
          </p:cNvPr>
          <p:cNvSpPr/>
          <p:nvPr/>
        </p:nvSpPr>
        <p:spPr>
          <a:xfrm>
            <a:off x="0" y="266156"/>
            <a:ext cx="833120" cy="484632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SA -4</a:t>
            </a:r>
          </a:p>
        </p:txBody>
      </p:sp>
    </p:spTree>
    <p:extLst>
      <p:ext uri="{BB962C8B-B14F-4D97-AF65-F5344CB8AC3E}">
        <p14:creationId xmlns:p14="http://schemas.microsoft.com/office/powerpoint/2010/main" val="24514308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35D494-D3CD-D111-4EB3-F63E5E063784}"/>
              </a:ext>
            </a:extLst>
          </p:cNvPr>
          <p:cNvSpPr txBox="1"/>
          <p:nvPr/>
        </p:nvSpPr>
        <p:spPr>
          <a:xfrm>
            <a:off x="833120" y="1143456"/>
            <a:ext cx="5556314" cy="2731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>
                <a:solidFill>
                  <a:srgbClr val="038900"/>
                </a:solidFill>
              </a:rPr>
              <a:t>Tamil Nadu - Automotive &amp; EV Manufacturing Specialist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Strong automotive &amp; EV supply chain in India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Flexible capital &amp; training subsidies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Strong SEZ ecosystem</a:t>
            </a:r>
          </a:p>
          <a:p>
            <a:endParaRPr lang="en-IN"/>
          </a:p>
          <a:p>
            <a:r>
              <a:rPr lang="en-IN" b="1" u="sng">
                <a:solidFill>
                  <a:srgbClr val="038900"/>
                </a:solidFill>
              </a:rPr>
              <a:t>Gujarat – Infrastructure &amp; Export Powerhouse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Excellent port-led logistics (40% of India’s cargo)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Ideal for export-oriented EV production.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90254C-04CB-6FA5-9EB2-C52BE4217860}"/>
              </a:ext>
            </a:extLst>
          </p:cNvPr>
          <p:cNvSpPr txBox="1"/>
          <p:nvPr/>
        </p:nvSpPr>
        <p:spPr>
          <a:xfrm>
            <a:off x="6429085" y="1143456"/>
            <a:ext cx="5453399" cy="3101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>
                <a:solidFill>
                  <a:srgbClr val="038900"/>
                </a:solidFill>
              </a:rPr>
              <a:t>Maharashtra – Market Access &amp; Financial Hub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India’s largest GDP state with mature supplier ecosystem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Proximity to major EV demand centers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Access to financial institutions &amp; corporate headquarters.</a:t>
            </a:r>
          </a:p>
          <a:p>
            <a:endParaRPr lang="en-IN"/>
          </a:p>
          <a:p>
            <a:r>
              <a:rPr lang="en-IN" b="1" u="sng">
                <a:solidFill>
                  <a:srgbClr val="038900"/>
                </a:solidFill>
              </a:rPr>
              <a:t>Karnataka – Innovation &amp; R&amp;D hub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Strong EV startups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Software &amp; battery R&amp;D talent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Suitable for advanced EV design &amp; innovation-focused units.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F75236-7F5B-18A9-8E81-FA2C267BD9EB}"/>
              </a:ext>
            </a:extLst>
          </p:cNvPr>
          <p:cNvSpPr txBox="1"/>
          <p:nvPr/>
        </p:nvSpPr>
        <p:spPr>
          <a:xfrm>
            <a:off x="833120" y="257883"/>
            <a:ext cx="63175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038900"/>
                </a:solidFill>
              </a:rPr>
              <a:t>Best State to Set Up Manufacturing Unit</a:t>
            </a:r>
            <a:endParaRPr lang="en-IN" sz="2000" b="1">
              <a:solidFill>
                <a:srgbClr val="038900"/>
              </a:solidFill>
            </a:endParaRP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B8CB5E0B-7A88-2A84-AA2F-329FF161D056}"/>
              </a:ext>
            </a:extLst>
          </p:cNvPr>
          <p:cNvSpPr/>
          <p:nvPr/>
        </p:nvSpPr>
        <p:spPr>
          <a:xfrm>
            <a:off x="0" y="201587"/>
            <a:ext cx="833120" cy="484632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SA -5</a:t>
            </a:r>
          </a:p>
        </p:txBody>
      </p:sp>
    </p:spTree>
    <p:extLst>
      <p:ext uri="{BB962C8B-B14F-4D97-AF65-F5344CB8AC3E}">
        <p14:creationId xmlns:p14="http://schemas.microsoft.com/office/powerpoint/2010/main" val="3457614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A19413-E3D8-B78B-81D7-B0B3475EB7F5}"/>
              </a:ext>
            </a:extLst>
          </p:cNvPr>
          <p:cNvSpPr txBox="1"/>
          <p:nvPr/>
        </p:nvSpPr>
        <p:spPr>
          <a:xfrm>
            <a:off x="833120" y="243164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038900"/>
                </a:solidFill>
              </a:rPr>
              <a:t>Top 3 Strategic Recommendations for AtliQ Motors</a:t>
            </a:r>
            <a:endParaRPr lang="en-IN" sz="2000" b="1">
              <a:solidFill>
                <a:srgbClr val="0389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FC959-CF3F-3B20-864E-EB4F2ABF9550}"/>
              </a:ext>
            </a:extLst>
          </p:cNvPr>
          <p:cNvSpPr txBox="1"/>
          <p:nvPr/>
        </p:nvSpPr>
        <p:spPr>
          <a:xfrm>
            <a:off x="285161" y="917923"/>
            <a:ext cx="11991681" cy="4393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>
                <a:solidFill>
                  <a:srgbClr val="038900"/>
                </a:solidFill>
              </a:rPr>
              <a:t>1. Dual-Segment Market Domination Strategy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2-Wheelers</a:t>
            </a:r>
            <a:r>
              <a:rPr lang="en-US" sz="1600" b="1"/>
              <a:t> :</a:t>
            </a:r>
            <a:r>
              <a:rPr lang="en-US" sz="1600"/>
              <a:t> Launch affordable EVs with battery-swap, subscription, fleet partnerships (logistics &amp; delivery) to drive mass adoption.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4-Wheelers</a:t>
            </a:r>
            <a:r>
              <a:rPr lang="en-US" sz="1600" b="1"/>
              <a:t> :</a:t>
            </a:r>
            <a:r>
              <a:rPr lang="en-US" sz="1600"/>
              <a:t> Introduce a compact urban EV &amp; mid-range SUV with strong range, fast-charging, and safety features to capture high-margin customers.</a:t>
            </a:r>
          </a:p>
          <a:p>
            <a:endParaRPr lang="en-US"/>
          </a:p>
          <a:p>
            <a:r>
              <a:rPr lang="en-IN" b="1" u="sng">
                <a:solidFill>
                  <a:srgbClr val="038900"/>
                </a:solidFill>
              </a:rPr>
              <a:t>2. State-Focused Phased Launch Strategy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Phase 1 (High volume states) : Maharashtra, Karnataka, Delhi, Kerala, Goa.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Phase 2 (High CAGR growth states) : Uttar Pradesh, Assam, Tripura, Meghalaya, Haryana.</a:t>
            </a:r>
          </a:p>
          <a:p>
            <a:endParaRPr lang="en-US"/>
          </a:p>
          <a:p>
            <a:r>
              <a:rPr lang="en-US" b="1" u="sng">
                <a:solidFill>
                  <a:srgbClr val="038900"/>
                </a:solidFill>
              </a:rPr>
              <a:t>3. Ecosystem-Led Scaling: Charging, Manufacturing &amp; Partnerships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Co-invest in fast-charging &amp; offer home-charger installation bundles.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Set up manufacturing in Tamil Nadu or Gujarat to leverage subsidies, skilled labor, supply-chain depth.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Use CAGR &amp; penetration-driven forecasting to optimize plant capacity, inventory, and expansion pace.</a:t>
            </a: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22B7BDFE-8D6E-9CD2-CFAA-DE413E191AE5}"/>
              </a:ext>
            </a:extLst>
          </p:cNvPr>
          <p:cNvSpPr/>
          <p:nvPr/>
        </p:nvSpPr>
        <p:spPr>
          <a:xfrm>
            <a:off x="0" y="201587"/>
            <a:ext cx="833120" cy="484632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SA -6</a:t>
            </a:r>
          </a:p>
        </p:txBody>
      </p:sp>
    </p:spTree>
    <p:extLst>
      <p:ext uri="{BB962C8B-B14F-4D97-AF65-F5344CB8AC3E}">
        <p14:creationId xmlns:p14="http://schemas.microsoft.com/office/powerpoint/2010/main" val="6284241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C5AFEE-3F46-5155-3ABA-9AFD625306B5}"/>
              </a:ext>
            </a:extLst>
          </p:cNvPr>
          <p:cNvSpPr txBox="1"/>
          <p:nvPr/>
        </p:nvSpPr>
        <p:spPr>
          <a:xfrm>
            <a:off x="529471" y="1338882"/>
            <a:ext cx="11133056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Adopt a dual-market strategy: 2-wheelers for high volume &amp; brand scale, 4-wheelers for high-margin growth.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Launch first in Maharashtra &amp; Karnataka, the strongest states for EV sales, revenue, and infrastructure readiness.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Expand next into Tamil Nadu &amp; Gujarat to accelerate national scale in EV-friendly markets.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Target high-CAGR states early (Uttar Pradesh, Tripura, Meghalaya, Chandigarh) to secure first-mover advantage.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Position 2W EVs as affordable, daily-commute solutions aligned with India’s price-sensitive demand.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Set 4W EVs as premium, long-range vehicles to maximize revenue per customer.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Align product launches with Q4 demand peaks, especially March, to capitalize on seasonal sales.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Invest early in charging partnerships and ecosystem support to build long-term customer trust and adoption.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6A2574-675E-2B39-0618-8D35406FD63C}"/>
              </a:ext>
            </a:extLst>
          </p:cNvPr>
          <p:cNvSpPr txBox="1"/>
          <p:nvPr/>
        </p:nvSpPr>
        <p:spPr>
          <a:xfrm>
            <a:off x="284479" y="469889"/>
            <a:ext cx="1162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00479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2E22744-FB12-0FCF-26B4-77E74DB1F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4428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2851</TotalTime>
  <Words>2573</Words>
  <Application>Microsoft Office PowerPoint</Application>
  <PresentationFormat>Widescreen</PresentationFormat>
  <Paragraphs>273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Calibri(Body)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Dataset Overview</vt:lpstr>
      <vt:lpstr>Key Growth Metrics</vt:lpstr>
      <vt:lpstr>PRIMARY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SECONDARY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 Patoliya</dc:creator>
  <cp:lastModifiedBy>sairam badganchi</cp:lastModifiedBy>
  <cp:revision>15</cp:revision>
  <dcterms:created xsi:type="dcterms:W3CDTF">2025-12-08T14:16:39Z</dcterms:created>
  <dcterms:modified xsi:type="dcterms:W3CDTF">2026-10-14T07:07:15Z</dcterms:modified>
</cp:coreProperties>
</file>